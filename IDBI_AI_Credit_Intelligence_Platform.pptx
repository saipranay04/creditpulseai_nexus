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theme" Target="theme/theme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Cost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3E"/>
              </a:solidFill>
              <a:effectLst/>
            </c:spPr>
          </c:dPt>
          <c:dPt>
            <c:idx val="1"/>
            <c:bubble3D val="0"/>
            <c:spPr>
              <a:solidFill>
                <a:srgbClr val="2451C4"/>
              </a:solidFill>
              <a:effectLst/>
            </c:spPr>
          </c:dPt>
          <c:dPt>
            <c:idx val="2"/>
            <c:bubble3D val="0"/>
            <c:spPr>
              <a:solidFill>
                <a:srgbClr val="C9A227"/>
              </a:solidFill>
              <a:effectLst/>
            </c:spPr>
          </c:dPt>
          <c:dPt>
            <c:idx val="3"/>
            <c:bubble3D val="0"/>
            <c:spPr>
              <a:solidFill>
                <a:srgbClr val="6B8ADB"/>
              </a:solidFill>
              <a:effectLst/>
            </c:spPr>
          </c:dPt>
          <c:dPt>
            <c:idx val="4"/>
            <c:bubble3D val="0"/>
            <c:spPr>
              <a:solidFill>
                <a:srgbClr val="AAB6D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Development</c:v>
                </c:pt>
                <c:pt idx="1">
                  <c:v>Cloud Infrastructure</c:v>
                </c:pt>
                <c:pt idx="2">
                  <c:v>Security</c:v>
                </c:pt>
                <c:pt idx="3">
                  <c:v>Database</c:v>
                </c:pt>
                <c:pt idx="4">
                  <c:v>Maintenance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24</c:v>
                </c:pt>
                <c:pt idx="2">
                  <c:v>16</c:v>
                </c:pt>
                <c:pt idx="3">
                  <c:v>13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13-8442-AEEE-D09653BE69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0F1E3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8FDAA7-8004-D343-9B70-D87C40E75815}" type="datetimeFigureOut">
              <a:rPr lang="en-US" smtClean="0"/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43847-29B2-FE4E-9022-A99CD934B4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921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3" Type="http://schemas.openxmlformats.org/officeDocument/2006/relationships/image" Target="../media/image2.png" /><Relationship Id="rId7" Type="http://schemas.openxmlformats.org/officeDocument/2006/relationships/image" Target="../media/image6.png" /><Relationship Id="rId12" Type="http://schemas.openxmlformats.org/officeDocument/2006/relationships/image" Target="../media/image11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png" /><Relationship Id="rId11" Type="http://schemas.openxmlformats.org/officeDocument/2006/relationships/image" Target="../media/image10.png" /><Relationship Id="rId5" Type="http://schemas.openxmlformats.org/officeDocument/2006/relationships/image" Target="../media/image4.png" /><Relationship Id="rId10" Type="http://schemas.openxmlformats.org/officeDocument/2006/relationships/image" Target="../media/image9.png" /><Relationship Id="rId4" Type="http://schemas.openxmlformats.org/officeDocument/2006/relationships/image" Target="../media/image3.png" /><Relationship Id="rId9" Type="http://schemas.openxmlformats.org/officeDocument/2006/relationships/image" Target="../media/image8.pn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7" Type="http://schemas.openxmlformats.org/officeDocument/2006/relationships/image" Target="../media/image16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5.png" /><Relationship Id="rId5" Type="http://schemas.openxmlformats.org/officeDocument/2006/relationships/image" Target="../media/image14.png" /><Relationship Id="rId4" Type="http://schemas.openxmlformats.org/officeDocument/2006/relationships/image" Target="../media/image13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 /><Relationship Id="rId13" Type="http://schemas.openxmlformats.org/officeDocument/2006/relationships/image" Target="../media/image27.png" /><Relationship Id="rId3" Type="http://schemas.openxmlformats.org/officeDocument/2006/relationships/image" Target="../media/image17.png" /><Relationship Id="rId7" Type="http://schemas.openxmlformats.org/officeDocument/2006/relationships/image" Target="../media/image21.png" /><Relationship Id="rId12" Type="http://schemas.openxmlformats.org/officeDocument/2006/relationships/image" Target="../media/image26.png" /><Relationship Id="rId17" Type="http://schemas.openxmlformats.org/officeDocument/2006/relationships/image" Target="../media/image31.png" /><Relationship Id="rId2" Type="http://schemas.openxmlformats.org/officeDocument/2006/relationships/notesSlide" Target="../notesSlides/notesSlide4.xml" /><Relationship Id="rId16" Type="http://schemas.openxmlformats.org/officeDocument/2006/relationships/image" Target="../media/image30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0.png" /><Relationship Id="rId11" Type="http://schemas.openxmlformats.org/officeDocument/2006/relationships/image" Target="../media/image25.png" /><Relationship Id="rId5" Type="http://schemas.openxmlformats.org/officeDocument/2006/relationships/image" Target="../media/image19.png" /><Relationship Id="rId15" Type="http://schemas.openxmlformats.org/officeDocument/2006/relationships/image" Target="../media/image29.png" /><Relationship Id="rId10" Type="http://schemas.openxmlformats.org/officeDocument/2006/relationships/image" Target="../media/image24.png" /><Relationship Id="rId4" Type="http://schemas.openxmlformats.org/officeDocument/2006/relationships/image" Target="../media/image18.png" /><Relationship Id="rId9" Type="http://schemas.openxmlformats.org/officeDocument/2006/relationships/image" Target="../media/image23.png" /><Relationship Id="rId14" Type="http://schemas.openxmlformats.org/officeDocument/2006/relationships/image" Target="../media/image28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 /><Relationship Id="rId13" Type="http://schemas.openxmlformats.org/officeDocument/2006/relationships/image" Target="../media/image40.png" /><Relationship Id="rId3" Type="http://schemas.openxmlformats.org/officeDocument/2006/relationships/image" Target="../media/image32.png" /><Relationship Id="rId7" Type="http://schemas.openxmlformats.org/officeDocument/2006/relationships/image" Target="../media/image36.png" /><Relationship Id="rId12" Type="http://schemas.openxmlformats.org/officeDocument/2006/relationships/image" Target="../media/image39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5.png" /><Relationship Id="rId11" Type="http://schemas.openxmlformats.org/officeDocument/2006/relationships/image" Target="../media/image38.png" /><Relationship Id="rId5" Type="http://schemas.openxmlformats.org/officeDocument/2006/relationships/image" Target="../media/image34.png" /><Relationship Id="rId10" Type="http://schemas.openxmlformats.org/officeDocument/2006/relationships/image" Target="../media/image7.png" /><Relationship Id="rId4" Type="http://schemas.openxmlformats.org/officeDocument/2006/relationships/image" Target="../media/image33.png" /><Relationship Id="rId9" Type="http://schemas.openxmlformats.org/officeDocument/2006/relationships/image" Target="../media/image9.png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 /><Relationship Id="rId13" Type="http://schemas.openxmlformats.org/officeDocument/2006/relationships/image" Target="../media/image51.png" /><Relationship Id="rId18" Type="http://schemas.openxmlformats.org/officeDocument/2006/relationships/image" Target="../media/image56.png" /><Relationship Id="rId3" Type="http://schemas.openxmlformats.org/officeDocument/2006/relationships/image" Target="../media/image41.png" /><Relationship Id="rId21" Type="http://schemas.openxmlformats.org/officeDocument/2006/relationships/image" Target="../media/image59.png" /><Relationship Id="rId7" Type="http://schemas.openxmlformats.org/officeDocument/2006/relationships/image" Target="../media/image45.png" /><Relationship Id="rId12" Type="http://schemas.openxmlformats.org/officeDocument/2006/relationships/image" Target="../media/image50.png" /><Relationship Id="rId17" Type="http://schemas.openxmlformats.org/officeDocument/2006/relationships/image" Target="../media/image55.png" /><Relationship Id="rId25" Type="http://schemas.openxmlformats.org/officeDocument/2006/relationships/image" Target="../media/image60.png" /><Relationship Id="rId2" Type="http://schemas.openxmlformats.org/officeDocument/2006/relationships/notesSlide" Target="../notesSlides/notesSlide7.xml" /><Relationship Id="rId16" Type="http://schemas.openxmlformats.org/officeDocument/2006/relationships/image" Target="../media/image54.png" /><Relationship Id="rId20" Type="http://schemas.openxmlformats.org/officeDocument/2006/relationships/image" Target="../media/image58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44.png" /><Relationship Id="rId11" Type="http://schemas.openxmlformats.org/officeDocument/2006/relationships/image" Target="../media/image49.png" /><Relationship Id="rId24" Type="http://schemas.openxmlformats.org/officeDocument/2006/relationships/image" Target="../media/image30.png" /><Relationship Id="rId5" Type="http://schemas.openxmlformats.org/officeDocument/2006/relationships/image" Target="../media/image43.png" /><Relationship Id="rId15" Type="http://schemas.openxmlformats.org/officeDocument/2006/relationships/image" Target="../media/image53.png" /><Relationship Id="rId23" Type="http://schemas.openxmlformats.org/officeDocument/2006/relationships/image" Target="../media/image29.png" /><Relationship Id="rId10" Type="http://schemas.openxmlformats.org/officeDocument/2006/relationships/image" Target="../media/image48.png" /><Relationship Id="rId19" Type="http://schemas.openxmlformats.org/officeDocument/2006/relationships/image" Target="../media/image57.png" /><Relationship Id="rId4" Type="http://schemas.openxmlformats.org/officeDocument/2006/relationships/image" Target="../media/image42.png" /><Relationship Id="rId9" Type="http://schemas.openxmlformats.org/officeDocument/2006/relationships/image" Target="../media/image47.png" /><Relationship Id="rId14" Type="http://schemas.openxmlformats.org/officeDocument/2006/relationships/image" Target="../media/image52.png" /><Relationship Id="rId22" Type="http://schemas.openxmlformats.org/officeDocument/2006/relationships/image" Target="../media/image28.png" 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 /><Relationship Id="rId13" Type="http://schemas.openxmlformats.org/officeDocument/2006/relationships/image" Target="../media/image68.png" /><Relationship Id="rId18" Type="http://schemas.openxmlformats.org/officeDocument/2006/relationships/image" Target="../media/image73.png" /><Relationship Id="rId3" Type="http://schemas.openxmlformats.org/officeDocument/2006/relationships/image" Target="../media/image61.png" /><Relationship Id="rId21" Type="http://schemas.openxmlformats.org/officeDocument/2006/relationships/image" Target="../media/image76.png" /><Relationship Id="rId7" Type="http://schemas.openxmlformats.org/officeDocument/2006/relationships/image" Target="../media/image65.png" /><Relationship Id="rId12" Type="http://schemas.openxmlformats.org/officeDocument/2006/relationships/image" Target="../media/image24.png" /><Relationship Id="rId17" Type="http://schemas.openxmlformats.org/officeDocument/2006/relationships/image" Target="../media/image72.png" /><Relationship Id="rId2" Type="http://schemas.openxmlformats.org/officeDocument/2006/relationships/notesSlide" Target="../notesSlides/notesSlide8.xml" /><Relationship Id="rId16" Type="http://schemas.openxmlformats.org/officeDocument/2006/relationships/image" Target="../media/image71.png" /><Relationship Id="rId20" Type="http://schemas.openxmlformats.org/officeDocument/2006/relationships/image" Target="../media/image75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64.png" /><Relationship Id="rId11" Type="http://schemas.openxmlformats.org/officeDocument/2006/relationships/image" Target="../media/image31.png" /><Relationship Id="rId5" Type="http://schemas.openxmlformats.org/officeDocument/2006/relationships/image" Target="../media/image63.png" /><Relationship Id="rId15" Type="http://schemas.openxmlformats.org/officeDocument/2006/relationships/image" Target="../media/image70.png" /><Relationship Id="rId10" Type="http://schemas.openxmlformats.org/officeDocument/2006/relationships/image" Target="../media/image67.png" /><Relationship Id="rId19" Type="http://schemas.openxmlformats.org/officeDocument/2006/relationships/image" Target="../media/image74.png" /><Relationship Id="rId4" Type="http://schemas.openxmlformats.org/officeDocument/2006/relationships/image" Target="../media/image62.png" /><Relationship Id="rId9" Type="http://schemas.openxmlformats.org/officeDocument/2006/relationships/image" Target="../media/image30.png" /><Relationship Id="rId14" Type="http://schemas.openxmlformats.org/officeDocument/2006/relationships/image" Target="../media/image69.png" /><Relationship Id="rId22" Type="http://schemas.openxmlformats.org/officeDocument/2006/relationships/image" Target="../media/image77.png" 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 /><Relationship Id="rId3" Type="http://schemas.openxmlformats.org/officeDocument/2006/relationships/chart" Target="../charts/chart1.xml" /><Relationship Id="rId7" Type="http://schemas.openxmlformats.org/officeDocument/2006/relationships/image" Target="../media/image32.pn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79.png" /><Relationship Id="rId5" Type="http://schemas.openxmlformats.org/officeDocument/2006/relationships/image" Target="../media/image78.png" /><Relationship Id="rId4" Type="http://schemas.openxmlformats.org/officeDocument/2006/relationships/image" Target="../media/image35.png" /><Relationship Id="rId9" Type="http://schemas.openxmlformats.org/officeDocument/2006/relationships/image" Target="../media/image81.png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 /><Relationship Id="rId3" Type="http://schemas.openxmlformats.org/officeDocument/2006/relationships/image" Target="../media/image8.png" /><Relationship Id="rId7" Type="http://schemas.openxmlformats.org/officeDocument/2006/relationships/image" Target="../media/image10.pn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5.png" /><Relationship Id="rId5" Type="http://schemas.openxmlformats.org/officeDocument/2006/relationships/image" Target="../media/image6.png" /><Relationship Id="rId4" Type="http://schemas.openxmlformats.org/officeDocument/2006/relationships/image" Target="../media/image82.png" /><Relationship Id="rId9" Type="http://schemas.openxmlformats.org/officeDocument/2006/relationships/image" Target="../media/image83.png" 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 /><Relationship Id="rId3" Type="http://schemas.openxmlformats.org/officeDocument/2006/relationships/image" Target="../media/image84.png" /><Relationship Id="rId7" Type="http://schemas.openxmlformats.org/officeDocument/2006/relationships/image" Target="../media/image88.png" /><Relationship Id="rId12" Type="http://schemas.openxmlformats.org/officeDocument/2006/relationships/image" Target="../media/image92.pn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87.png" /><Relationship Id="rId11" Type="http://schemas.openxmlformats.org/officeDocument/2006/relationships/image" Target="../media/image91.png" /><Relationship Id="rId5" Type="http://schemas.openxmlformats.org/officeDocument/2006/relationships/image" Target="../media/image86.png" /><Relationship Id="rId10" Type="http://schemas.openxmlformats.org/officeDocument/2006/relationships/image" Target="../media/image90.png" /><Relationship Id="rId4" Type="http://schemas.openxmlformats.org/officeDocument/2006/relationships/image" Target="../media/image85.png" /><Relationship Id="rId9" Type="http://schemas.openxmlformats.org/officeDocument/2006/relationships/image" Target="../media/image89.pn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96.png" /><Relationship Id="rId5" Type="http://schemas.openxmlformats.org/officeDocument/2006/relationships/image" Target="../media/image95.png" /><Relationship Id="rId4" Type="http://schemas.openxmlformats.org/officeDocument/2006/relationships/image" Target="../media/image94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9326880" y="640080"/>
            <a:ext cx="1097280" cy="365760"/>
          </a:xfrm>
          <a:prstGeom prst="line">
            <a:avLst/>
          </a:prstGeom>
          <a:noFill/>
          <a:ln w="12700">
            <a:solidFill>
              <a:srgbClr val="2451C4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640080"/>
            <a:ext cx="914400" cy="731520"/>
          </a:xfrm>
          <a:prstGeom prst="line">
            <a:avLst/>
          </a:prstGeom>
          <a:noFill/>
          <a:ln w="12700">
            <a:solidFill>
              <a:srgbClr val="2451C4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0" y="1005840"/>
            <a:ext cx="822960" cy="914400"/>
          </a:xfrm>
          <a:prstGeom prst="line">
            <a:avLst/>
          </a:prstGeom>
          <a:noFill/>
          <a:ln w="12700">
            <a:solidFill>
              <a:srgbClr val="2451C4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49840" y="1920240"/>
            <a:ext cx="1371600" cy="457200"/>
          </a:xfrm>
          <a:prstGeom prst="line">
            <a:avLst/>
          </a:prstGeom>
          <a:noFill/>
          <a:ln w="12700">
            <a:solidFill>
              <a:srgbClr val="2451C4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640080"/>
            <a:ext cx="274320" cy="1280160"/>
          </a:xfrm>
          <a:prstGeom prst="line">
            <a:avLst/>
          </a:prstGeom>
          <a:noFill/>
          <a:ln w="12700">
            <a:solidFill>
              <a:srgbClr val="2451C4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1920240"/>
            <a:ext cx="1005840" cy="182880"/>
          </a:xfrm>
          <a:prstGeom prst="line">
            <a:avLst/>
          </a:prstGeom>
          <a:noFill/>
          <a:ln w="12700">
            <a:solidFill>
              <a:srgbClr val="2451C4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1005840"/>
            <a:ext cx="182880" cy="1097280"/>
          </a:xfrm>
          <a:prstGeom prst="line">
            <a:avLst/>
          </a:prstGeom>
          <a:noFill/>
          <a:ln w="12700">
            <a:solidFill>
              <a:srgbClr val="2451C4">
                <a:alpha val="7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8595360" y="1463040"/>
            <a:ext cx="548640" cy="640080"/>
          </a:xfrm>
          <a:prstGeom prst="line">
            <a:avLst/>
          </a:prstGeom>
          <a:noFill/>
          <a:ln w="12700">
            <a:solidFill>
              <a:srgbClr val="2451C4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338560" y="1371600"/>
            <a:ext cx="182880" cy="1005840"/>
          </a:xfrm>
          <a:prstGeom prst="line">
            <a:avLst/>
          </a:prstGeom>
          <a:noFill/>
          <a:ln w="12700">
            <a:solidFill>
              <a:srgbClr val="2451C4">
                <a:alpha val="7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81160" y="960120"/>
            <a:ext cx="91440" cy="91440"/>
          </a:xfrm>
          <a:prstGeom prst="ellipse">
            <a:avLst/>
          </a:prstGeom>
          <a:solidFill>
            <a:srgbClr val="4A6B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0378440" y="594360"/>
            <a:ext cx="91440" cy="91440"/>
          </a:xfrm>
          <a:prstGeom prst="ellipse">
            <a:avLst/>
          </a:prstGeom>
          <a:solidFill>
            <a:srgbClr val="4A6B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2840" y="132588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04120" y="1874520"/>
            <a:ext cx="91440" cy="91440"/>
          </a:xfrm>
          <a:prstGeom prst="ellipse">
            <a:avLst/>
          </a:prstGeom>
          <a:solidFill>
            <a:srgbClr val="4A6BD8"/>
          </a:solidFill>
          <a:ln/>
        </p:spPr>
      </p:sp>
      <p:sp>
        <p:nvSpPr>
          <p:cNvPr id="16" name="Shape 14"/>
          <p:cNvSpPr/>
          <p:nvPr/>
        </p:nvSpPr>
        <p:spPr>
          <a:xfrm>
            <a:off x="11475720" y="2331720"/>
            <a:ext cx="91440" cy="91440"/>
          </a:xfrm>
          <a:prstGeom prst="ellipse">
            <a:avLst/>
          </a:prstGeom>
          <a:solidFill>
            <a:srgbClr val="4A6BD8"/>
          </a:solidFill>
          <a:ln/>
        </p:spPr>
      </p:sp>
      <p:sp>
        <p:nvSpPr>
          <p:cNvPr id="17" name="Shape 15"/>
          <p:cNvSpPr/>
          <p:nvPr/>
        </p:nvSpPr>
        <p:spPr>
          <a:xfrm>
            <a:off x="9098280" y="2057400"/>
            <a:ext cx="91440" cy="91440"/>
          </a:xfrm>
          <a:prstGeom prst="ellipse">
            <a:avLst/>
          </a:prstGeom>
          <a:solidFill>
            <a:srgbClr val="4A6BD8"/>
          </a:solidFill>
          <a:ln/>
        </p:spPr>
      </p:sp>
      <p:sp>
        <p:nvSpPr>
          <p:cNvPr id="18" name="Shape 16"/>
          <p:cNvSpPr/>
          <p:nvPr/>
        </p:nvSpPr>
        <p:spPr>
          <a:xfrm>
            <a:off x="8549640" y="1417320"/>
            <a:ext cx="91440" cy="91440"/>
          </a:xfrm>
          <a:prstGeom prst="ellipse">
            <a:avLst/>
          </a:prstGeom>
          <a:solidFill>
            <a:srgbClr val="4A6BD8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BANK  •  NATIONAL HACKATHON  2026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" y="114300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IDBI AI Credit Intelligence Platform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2296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r>
              <a:rPr lang="en-US" sz="1800" kern="0" spc="200" dirty="0">
                <a:solidFill>
                  <a:srgbClr val="5C6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18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r>
              <a:rPr lang="en-US" sz="1800" kern="0" spc="200" dirty="0">
                <a:solidFill>
                  <a:srgbClr val="5C6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</a:t>
            </a:r>
            <a:r>
              <a:rPr lang="en-US" sz="18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" y="28803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Explainable AI-Powered Credit Intelligence Platform for Intelligent Loan Default Prediction, Financial Health Scoring, Early Warning Detection, and Decision Support.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22960" y="3840480"/>
            <a:ext cx="10561320" cy="1783080"/>
          </a:xfrm>
          <a:prstGeom prst="roundRect">
            <a:avLst>
              <a:gd name="adj" fmla="val 3077"/>
            </a:avLst>
          </a:prstGeom>
          <a:solidFill>
            <a:srgbClr val="12224A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7280" y="4096512"/>
            <a:ext cx="502920" cy="502920"/>
          </a:xfrm>
          <a:prstGeom prst="ellipse">
            <a:avLst/>
          </a:prstGeom>
          <a:solidFill>
            <a:srgbClr val="1E3A8A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5" name="Image 0" descr="/home/claude/idbi_deck/icons/triangl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010" y="4222242"/>
            <a:ext cx="251460" cy="2514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828800" y="40782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828800" y="4370832"/>
            <a:ext cx="9281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D6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often identify risky borrowers too late — driving up Non-Performing Assets, delaying intervention, and raising recovery costs. Traditional credit scoring relies on static financial data and lacks explainability, leaving loan officers unable to understand or trust AI-driven decisions.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82296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NEURAL LEDGER</a:t>
            </a:r>
            <a:r>
              <a:rPr lang="en-US" sz="1250" dirty="0">
                <a:solidFill>
                  <a:srgbClr val="5C6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</a:t>
            </a:r>
            <a:r>
              <a:rPr lang="en-US" sz="125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Track: AI / ML in Banking &amp; Financial Services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548640" y="65471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C6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AI CREDIT INTELLIGENCE PLATFORM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1338560" y="6547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IDEA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Prediction Model to a Credit Intelligence Platform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471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AI CREDIT INTELLIGENCE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38560" y="6547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A SINGLE MODEL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5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propose building an Explainable AI-powered Credit Intelligence Platform — not just a Loan Default Prediction model.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continuously monitors customer financial behaviour by integrating transaction history, repayment behaviour, credit bureau information, employment stability, spending patterns, savings trends, macroeconomic indicators, and behavioural signals — into a single, living risk profile.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BENEFITS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4480560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2" name="Image 0" descr="/home/claude/idbi_deck/icons/arrowdow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746" y="4554626"/>
            <a:ext cx="181051" cy="18105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07592" y="4462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Non-Performing Assets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154680" y="4480560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5" name="Image 1" descr="/home/claude/idbi_deck/icons/arrowup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8746" y="4554626"/>
            <a:ext cx="181051" cy="18105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93592" y="4462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Recovery Outcomes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68680" y="4983480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8" name="Image 2" descr="/home/claude/idbi_deck/icons/ey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746" y="5057546"/>
            <a:ext cx="181051" cy="1810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07592" y="49651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Decision Transparency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154680" y="4983480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1" name="Image 3" descr="/home/claude/idbi_deck/icons/balance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8746" y="5057546"/>
            <a:ext cx="181051" cy="1810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593592" y="49651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RBI Regulatory Compliance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806440" y="1417320"/>
            <a:ext cx="2834640" cy="1277112"/>
          </a:xfrm>
          <a:prstGeom prst="roundRect">
            <a:avLst>
              <a:gd name="adj" fmla="val 572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007608" y="1618488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25" name="Image 4" descr="/home/claude/idbi_deck/icons/chartline_C9A2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1908" y="1732788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611112" y="15819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 of Default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6007608" y="21671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Early, quantified default risk per borrower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8805672" y="1417320"/>
            <a:ext cx="2834640" cy="1277112"/>
          </a:xfrm>
          <a:prstGeom prst="roundRect">
            <a:avLst>
              <a:gd name="adj" fmla="val 572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006840" y="1618488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30" name="Image 5" descr="/home/claude/idbi_deck/icons/heartbeat_C9A2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1140" y="1732788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610344" y="158191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Health Score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9006840" y="2167128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of overall customer wellbeing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5806440" y="2859024"/>
            <a:ext cx="2834640" cy="1277112"/>
          </a:xfrm>
          <a:prstGeom prst="roundRect">
            <a:avLst>
              <a:gd name="adj" fmla="val 572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007608" y="3060192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35" name="Image 6" descr="/home/claude/idbi_deck/icons/triangle_C9A22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1908" y="3174492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611112" y="302361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 Alerts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6007608" y="3608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stress before default occurs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8805672" y="2859024"/>
            <a:ext cx="2834640" cy="1277112"/>
          </a:xfrm>
          <a:prstGeom prst="roundRect">
            <a:avLst>
              <a:gd name="adj" fmla="val 572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9006840" y="3060192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40" name="Image 7" descr="/home/claude/idbi_deck/icons/lightbulb_C9A22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21140" y="3174492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610344" y="302361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</a:t>
            </a:r>
            <a:endParaRPr lang="en-US" sz="1250" dirty="0"/>
          </a:p>
        </p:txBody>
      </p:sp>
      <p:sp>
        <p:nvSpPr>
          <p:cNvPr id="42" name="Text 32"/>
          <p:cNvSpPr/>
          <p:nvPr/>
        </p:nvSpPr>
        <p:spPr>
          <a:xfrm>
            <a:off x="9006840" y="36088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/ LIME reasoning behind every decision</a:t>
            </a:r>
            <a:endParaRPr lang="en-US" sz="1000" dirty="0"/>
          </a:p>
        </p:txBody>
      </p:sp>
      <p:sp>
        <p:nvSpPr>
          <p:cNvPr id="43" name="Shape 33"/>
          <p:cNvSpPr/>
          <p:nvPr/>
        </p:nvSpPr>
        <p:spPr>
          <a:xfrm>
            <a:off x="5806440" y="4300728"/>
            <a:ext cx="2834640" cy="1277112"/>
          </a:xfrm>
          <a:prstGeom prst="roundRect">
            <a:avLst>
              <a:gd name="adj" fmla="val 572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44" name="Shape 34"/>
          <p:cNvSpPr/>
          <p:nvPr/>
        </p:nvSpPr>
        <p:spPr>
          <a:xfrm>
            <a:off x="6007608" y="4501896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45" name="Image 8" descr="/home/claude/idbi_deck/icons/usertie_C9A22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1908" y="4616196"/>
            <a:ext cx="228600" cy="22860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6611112" y="4465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 Manager Copilot</a:t>
            </a:r>
            <a:endParaRPr lang="en-US" sz="1250" dirty="0"/>
          </a:p>
        </p:txBody>
      </p:sp>
      <p:sp>
        <p:nvSpPr>
          <p:cNvPr id="47" name="Text 36"/>
          <p:cNvSpPr/>
          <p:nvPr/>
        </p:nvSpPr>
        <p:spPr>
          <a:xfrm>
            <a:off x="6007608" y="505053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Actionable, prioritized recommendations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8805672" y="4300728"/>
            <a:ext cx="2834640" cy="1277112"/>
          </a:xfrm>
          <a:prstGeom prst="roundRect">
            <a:avLst>
              <a:gd name="adj" fmla="val 5728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49" name="Shape 38"/>
          <p:cNvSpPr/>
          <p:nvPr/>
        </p:nvSpPr>
        <p:spPr>
          <a:xfrm>
            <a:off x="9006840" y="4501896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50" name="Image 9" descr="/home/claude/idbi_deck/icons/chartpie_C9A22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21140" y="4616196"/>
            <a:ext cx="228600" cy="228600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9610344" y="44653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Intelligence</a:t>
            </a:r>
            <a:endParaRPr lang="en-US" sz="1250" dirty="0"/>
          </a:p>
        </p:txBody>
      </p:sp>
      <p:sp>
        <p:nvSpPr>
          <p:cNvPr id="52" name="Text 40"/>
          <p:cNvSpPr/>
          <p:nvPr/>
        </p:nvSpPr>
        <p:spPr>
          <a:xfrm>
            <a:off x="9006840" y="5050536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and portfolio-level risk visibility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Time for This Platform Is 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471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AI CREDIT INTELLIGENCE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38560" y="6547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276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BANKING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057400"/>
            <a:ext cx="365760" cy="36576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9" name="Image 0" descr="/home/claude/idbi_deck/icons/timescircle_8493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139696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207568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credit score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2624328"/>
            <a:ext cx="365760" cy="36576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12" name="Image 1" descr="/home/claude/idbi_deck/icons/timescircle_8493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706624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6426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68680" y="3191256"/>
            <a:ext cx="365760" cy="36576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15" name="Image 2" descr="/home/claude/idbi_deck/icons/timescircle_8493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273552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209544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monitoring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68680" y="3758184"/>
            <a:ext cx="365760" cy="36576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18" name="Image 3" descr="/home/claude/idbi_deck/icons/timescircle_8493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840480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3776472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explainability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68680" y="4325112"/>
            <a:ext cx="365760" cy="365760"/>
          </a:xfrm>
          <a:prstGeom prst="ellipse">
            <a:avLst/>
          </a:prstGeom>
          <a:solidFill>
            <a:srgbClr val="EDEFF4"/>
          </a:solidFill>
          <a:ln/>
        </p:spPr>
      </p:sp>
      <p:pic>
        <p:nvPicPr>
          <p:cNvPr id="21" name="Image 4" descr="/home/claude/idbi_deck/icons/timescircle_8493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407408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4343400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 source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126480" y="1417320"/>
            <a:ext cx="5257800" cy="3931920"/>
          </a:xfrm>
          <a:prstGeom prst="roundRect">
            <a:avLst>
              <a:gd name="adj" fmla="val 1860"/>
            </a:avLst>
          </a:prstGeom>
          <a:solidFill>
            <a:srgbClr val="0D1B3E"/>
          </a:solidFill>
          <a:ln/>
        </p:spPr>
      </p:sp>
      <p:sp>
        <p:nvSpPr>
          <p:cNvPr id="24" name="Text 17"/>
          <p:cNvSpPr/>
          <p:nvPr/>
        </p:nvSpPr>
        <p:spPr>
          <a:xfrm>
            <a:off x="6446520" y="162763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PLATFORM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446520" y="2057400"/>
            <a:ext cx="329184" cy="329184"/>
          </a:xfrm>
          <a:prstGeom prst="ellipse">
            <a:avLst/>
          </a:prstGeom>
          <a:solidFill>
            <a:srgbClr val="17275A"/>
          </a:solidFill>
          <a:ln/>
        </p:spPr>
      </p:sp>
      <p:pic>
        <p:nvPicPr>
          <p:cNvPr id="26" name="Image 5" descr="/home/claude/idbi_deck/icons/checkcircle_22C5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357" y="2123237"/>
            <a:ext cx="197510" cy="19751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903720" y="204825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300" dirty="0"/>
          </a:p>
        </p:txBody>
      </p:sp>
      <p:sp>
        <p:nvSpPr>
          <p:cNvPr id="28" name="Shape 20"/>
          <p:cNvSpPr/>
          <p:nvPr/>
        </p:nvSpPr>
        <p:spPr>
          <a:xfrm>
            <a:off x="6446520" y="2532888"/>
            <a:ext cx="329184" cy="329184"/>
          </a:xfrm>
          <a:prstGeom prst="ellipse">
            <a:avLst/>
          </a:prstGeom>
          <a:solidFill>
            <a:srgbClr val="17275A"/>
          </a:solidFill>
          <a:ln/>
        </p:spPr>
      </p:sp>
      <p:pic>
        <p:nvPicPr>
          <p:cNvPr id="29" name="Image 6" descr="/home/claude/idbi_deck/icons/checkcircle_22C5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357" y="2598725"/>
            <a:ext cx="197510" cy="19751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903720" y="252374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6446520" y="3008376"/>
            <a:ext cx="329184" cy="329184"/>
          </a:xfrm>
          <a:prstGeom prst="ellipse">
            <a:avLst/>
          </a:prstGeom>
          <a:solidFill>
            <a:srgbClr val="17275A"/>
          </a:solidFill>
          <a:ln/>
        </p:spPr>
      </p:sp>
      <p:pic>
        <p:nvPicPr>
          <p:cNvPr id="32" name="Image 7" descr="/home/claude/idbi_deck/icons/checkcircle_22C5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357" y="3074213"/>
            <a:ext cx="197510" cy="19751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903720" y="2999232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Score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6446520" y="3483864"/>
            <a:ext cx="329184" cy="329184"/>
          </a:xfrm>
          <a:prstGeom prst="ellipse">
            <a:avLst/>
          </a:prstGeom>
          <a:solidFill>
            <a:srgbClr val="17275A"/>
          </a:solidFill>
          <a:ln/>
        </p:spPr>
      </p:sp>
      <p:pic>
        <p:nvPicPr>
          <p:cNvPr id="35" name="Image 8" descr="/home/claude/idbi_deck/icons/checkcircle_22C5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357" y="3549701"/>
            <a:ext cx="197510" cy="19751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903720" y="347472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1300" dirty="0"/>
          </a:p>
        </p:txBody>
      </p:sp>
      <p:sp>
        <p:nvSpPr>
          <p:cNvPr id="37" name="Shape 26"/>
          <p:cNvSpPr/>
          <p:nvPr/>
        </p:nvSpPr>
        <p:spPr>
          <a:xfrm>
            <a:off x="6446520" y="3959352"/>
            <a:ext cx="329184" cy="329184"/>
          </a:xfrm>
          <a:prstGeom prst="ellipse">
            <a:avLst/>
          </a:prstGeom>
          <a:solidFill>
            <a:srgbClr val="17275A"/>
          </a:solidFill>
          <a:ln/>
        </p:spPr>
      </p:sp>
      <p:pic>
        <p:nvPicPr>
          <p:cNvPr id="38" name="Image 9" descr="/home/claude/idbi_deck/icons/checkcircle_22C5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357" y="4025189"/>
            <a:ext cx="197510" cy="197510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6903720" y="395020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Copilot</a:t>
            </a:r>
            <a:endParaRPr lang="en-US" sz="1300" dirty="0"/>
          </a:p>
        </p:txBody>
      </p:sp>
      <p:sp>
        <p:nvSpPr>
          <p:cNvPr id="40" name="Shape 28"/>
          <p:cNvSpPr/>
          <p:nvPr/>
        </p:nvSpPr>
        <p:spPr>
          <a:xfrm>
            <a:off x="6446520" y="4434840"/>
            <a:ext cx="329184" cy="329184"/>
          </a:xfrm>
          <a:prstGeom prst="ellipse">
            <a:avLst/>
          </a:prstGeom>
          <a:solidFill>
            <a:srgbClr val="17275A"/>
          </a:solidFill>
          <a:ln/>
        </p:spPr>
      </p:sp>
      <p:pic>
        <p:nvPicPr>
          <p:cNvPr id="41" name="Image 10" descr="/home/claude/idbi_deck/icons/checkcircle_22C5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357" y="4500677"/>
            <a:ext cx="197510" cy="197510"/>
          </a:xfrm>
          <a:prstGeom prst="rect">
            <a:avLst/>
          </a:prstGeom>
        </p:spPr>
      </p:pic>
      <p:sp>
        <p:nvSpPr>
          <p:cNvPr id="42" name="Text 29"/>
          <p:cNvSpPr/>
          <p:nvPr/>
        </p:nvSpPr>
        <p:spPr>
          <a:xfrm>
            <a:off x="6903720" y="4425696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</a:t>
            </a:r>
            <a:endParaRPr lang="en-US" sz="1300" dirty="0"/>
          </a:p>
        </p:txBody>
      </p:sp>
      <p:sp>
        <p:nvSpPr>
          <p:cNvPr id="43" name="Shape 30"/>
          <p:cNvSpPr/>
          <p:nvPr/>
        </p:nvSpPr>
        <p:spPr>
          <a:xfrm>
            <a:off x="6446520" y="4910328"/>
            <a:ext cx="329184" cy="329184"/>
          </a:xfrm>
          <a:prstGeom prst="ellipse">
            <a:avLst/>
          </a:prstGeom>
          <a:solidFill>
            <a:srgbClr val="17275A"/>
          </a:solidFill>
          <a:ln/>
        </p:spPr>
      </p:sp>
      <p:pic>
        <p:nvPicPr>
          <p:cNvPr id="44" name="Image 11" descr="/home/claude/idbi_deck/icons/checkcircle_22C58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2357" y="4976165"/>
            <a:ext cx="197510" cy="197510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6903720" y="4901184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</a:t>
            </a:r>
            <a:endParaRPr lang="en-US" sz="1300" dirty="0"/>
          </a:p>
        </p:txBody>
      </p:sp>
      <p:sp>
        <p:nvSpPr>
          <p:cNvPr id="46" name="Shape 32"/>
          <p:cNvSpPr/>
          <p:nvPr/>
        </p:nvSpPr>
        <p:spPr>
          <a:xfrm>
            <a:off x="548640" y="5532120"/>
            <a:ext cx="3368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47" name="Shape 33"/>
          <p:cNvSpPr/>
          <p:nvPr/>
        </p:nvSpPr>
        <p:spPr>
          <a:xfrm>
            <a:off x="713232" y="5650992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8" name="Image 12" descr="/home/claude/idbi_deck/icons/rocket_0D1B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872" y="5745632"/>
            <a:ext cx="231343" cy="231343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1234440" y="5532120"/>
            <a:ext cx="254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Enterprise-Ready</a:t>
            </a:r>
            <a:endParaRPr lang="en-US" sz="1350" dirty="0"/>
          </a:p>
        </p:txBody>
      </p:sp>
      <p:sp>
        <p:nvSpPr>
          <p:cNvPr id="50" name="Shape 35"/>
          <p:cNvSpPr/>
          <p:nvPr/>
        </p:nvSpPr>
        <p:spPr>
          <a:xfrm>
            <a:off x="4099560" y="5532120"/>
            <a:ext cx="3368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51" name="Shape 36"/>
          <p:cNvSpPr/>
          <p:nvPr/>
        </p:nvSpPr>
        <p:spPr>
          <a:xfrm>
            <a:off x="4264152" y="5650992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2" name="Image 13" descr="/home/claude/idbi_deck/icons/layers_0D1B3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8792" y="5745632"/>
            <a:ext cx="231343" cy="231343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4785360" y="5532120"/>
            <a:ext cx="254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Scalable</a:t>
            </a:r>
            <a:endParaRPr lang="en-US" sz="1350" dirty="0"/>
          </a:p>
        </p:txBody>
      </p:sp>
      <p:sp>
        <p:nvSpPr>
          <p:cNvPr id="54" name="Shape 38"/>
          <p:cNvSpPr/>
          <p:nvPr/>
        </p:nvSpPr>
        <p:spPr>
          <a:xfrm>
            <a:off x="7650480" y="5532120"/>
            <a:ext cx="3368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55" name="Shape 39"/>
          <p:cNvSpPr/>
          <p:nvPr/>
        </p:nvSpPr>
        <p:spPr>
          <a:xfrm>
            <a:off x="7815072" y="5650992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56" name="Image 14" descr="/home/claude/idbi_deck/icons/cloud_0D1B3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09712" y="5745632"/>
            <a:ext cx="231343" cy="231343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8336280" y="5532120"/>
            <a:ext cx="254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Cloud-Native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FEATURES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Complete Suite of Risk Intelligence Capabilities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471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AI CREDIT INTELLIGENCE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38560" y="6547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14344" cy="443484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3514344" cy="566928"/>
          </a:xfrm>
          <a:prstGeom prst="roundRect">
            <a:avLst>
              <a:gd name="adj" fmla="val 12903"/>
            </a:avLst>
          </a:prstGeom>
          <a:solidFill>
            <a:srgbClr val="1E3A8A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91640"/>
            <a:ext cx="3514344" cy="292608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417320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ENGINE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365760" cy="36576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11" name="Image 0" descr="/home/claude/idbi_deck/icons/chartline_1E3A8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276856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61872" y="2167128"/>
            <a:ext cx="2599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Default Prediction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" y="2706624"/>
            <a:ext cx="365760" cy="36576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14" name="Image 1" descr="/home/claude/idbi_deck/icons/heartbeat_1E3A8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78892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61872" y="2679192"/>
            <a:ext cx="2599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Score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77240" y="3218688"/>
            <a:ext cx="365760" cy="36576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17" name="Image 2" descr="/home/claude/idbi_deck/icons/gauge_1E3A8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3300984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3191256"/>
            <a:ext cx="2599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Health Score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77240" y="3730752"/>
            <a:ext cx="365760" cy="36576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20" name="Image 3" descr="/home/claude/idbi_deck/icons/water_1E3A8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381304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61872" y="3703320"/>
            <a:ext cx="2599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Score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77240" y="4242816"/>
            <a:ext cx="365760" cy="36576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23" name="Image 4" descr="/home/claude/idbi_deck/icons/weight_1E3A8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9536" y="4325112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261872" y="4215384"/>
            <a:ext cx="2599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Burden Score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777240" y="4754880"/>
            <a:ext cx="365760" cy="36576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26" name="Image 5" descr="/home/claude/idbi_deck/icons/userclock_1E3A8A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" y="4837176"/>
            <a:ext cx="201168" cy="20116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261872" y="4727448"/>
            <a:ext cx="2599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 Score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777240" y="5266944"/>
            <a:ext cx="365760" cy="36576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29" name="Image 6" descr="/home/claude/idbi_deck/icons/thermometer_1E3A8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536" y="5349240"/>
            <a:ext cx="201168" cy="201168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261872" y="5239512"/>
            <a:ext cx="2599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Stress Index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4337304" y="1417320"/>
            <a:ext cx="3514344" cy="443484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4337304" y="1417320"/>
            <a:ext cx="3514344" cy="566928"/>
          </a:xfrm>
          <a:prstGeom prst="roundRect">
            <a:avLst>
              <a:gd name="adj" fmla="val 12903"/>
            </a:avLst>
          </a:prstGeom>
          <a:solidFill>
            <a:srgbClr val="C9A227"/>
          </a:solidFill>
          <a:ln/>
        </p:spPr>
      </p:sp>
      <p:sp>
        <p:nvSpPr>
          <p:cNvPr id="33" name="Shape 24"/>
          <p:cNvSpPr/>
          <p:nvPr/>
        </p:nvSpPr>
        <p:spPr>
          <a:xfrm>
            <a:off x="4337304" y="1691640"/>
            <a:ext cx="3514344" cy="29260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4" name="Text 25"/>
          <p:cNvSpPr/>
          <p:nvPr/>
        </p:nvSpPr>
        <p:spPr>
          <a:xfrm>
            <a:off x="4565904" y="1417320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&amp; DECISIONING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4565904" y="2194560"/>
            <a:ext cx="365760" cy="36576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36" name="Image 7" descr="/home/claude/idbi_deck/icons/lightbulb_0D1B3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8200" y="2276856"/>
            <a:ext cx="201168" cy="20116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050536" y="2167128"/>
            <a:ext cx="2599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 / LIME)</a:t>
            </a:r>
            <a:endParaRPr lang="en-US" sz="1100" dirty="0"/>
          </a:p>
        </p:txBody>
      </p:sp>
      <p:sp>
        <p:nvSpPr>
          <p:cNvPr id="38" name="Shape 28"/>
          <p:cNvSpPr/>
          <p:nvPr/>
        </p:nvSpPr>
        <p:spPr>
          <a:xfrm>
            <a:off x="4565904" y="2706624"/>
            <a:ext cx="365760" cy="36576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39" name="Image 8" descr="/home/claude/idbi_deck/icons/fire_0D1B3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8200" y="2788920"/>
            <a:ext cx="201168" cy="201168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5050536" y="2679192"/>
            <a:ext cx="2599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Heatmap</a:t>
            </a:r>
            <a:endParaRPr lang="en-US" sz="1100" dirty="0"/>
          </a:p>
        </p:txBody>
      </p:sp>
      <p:sp>
        <p:nvSpPr>
          <p:cNvPr id="41" name="Shape 30"/>
          <p:cNvSpPr/>
          <p:nvPr/>
        </p:nvSpPr>
        <p:spPr>
          <a:xfrm>
            <a:off x="4565904" y="3218688"/>
            <a:ext cx="365760" cy="36576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42" name="Image 9" descr="/home/claude/idbi_deck/icons/robot_0D1B3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8200" y="3300984"/>
            <a:ext cx="201168" cy="20116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5050536" y="3191256"/>
            <a:ext cx="2599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</a:t>
            </a:r>
            <a:endParaRPr lang="en-US" sz="1100" dirty="0"/>
          </a:p>
        </p:txBody>
      </p:sp>
      <p:sp>
        <p:nvSpPr>
          <p:cNvPr id="44" name="Shape 32"/>
          <p:cNvSpPr/>
          <p:nvPr/>
        </p:nvSpPr>
        <p:spPr>
          <a:xfrm>
            <a:off x="4565904" y="3730752"/>
            <a:ext cx="365760" cy="36576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45" name="Image 10" descr="/home/claude/idbi_deck/icons/bell_0D1B3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48200" y="3813048"/>
            <a:ext cx="201168" cy="201168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5050536" y="3703320"/>
            <a:ext cx="2599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Alerts</a:t>
            </a:r>
            <a:endParaRPr lang="en-US" sz="1100" dirty="0"/>
          </a:p>
        </p:txBody>
      </p:sp>
      <p:sp>
        <p:nvSpPr>
          <p:cNvPr id="47" name="Shape 34"/>
          <p:cNvSpPr/>
          <p:nvPr/>
        </p:nvSpPr>
        <p:spPr>
          <a:xfrm>
            <a:off x="8125968" y="1417320"/>
            <a:ext cx="3514344" cy="443484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48" name="Shape 35"/>
          <p:cNvSpPr/>
          <p:nvPr/>
        </p:nvSpPr>
        <p:spPr>
          <a:xfrm>
            <a:off x="8125968" y="1417320"/>
            <a:ext cx="3514344" cy="566928"/>
          </a:xfrm>
          <a:prstGeom prst="roundRect">
            <a:avLst>
              <a:gd name="adj" fmla="val 12903"/>
            </a:avLst>
          </a:prstGeom>
          <a:solidFill>
            <a:srgbClr val="0D1B3E"/>
          </a:solidFill>
          <a:ln/>
        </p:spPr>
      </p:sp>
      <p:sp>
        <p:nvSpPr>
          <p:cNvPr id="49" name="Shape 36"/>
          <p:cNvSpPr/>
          <p:nvPr/>
        </p:nvSpPr>
        <p:spPr>
          <a:xfrm>
            <a:off x="8125968" y="1691640"/>
            <a:ext cx="3514344" cy="2926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50" name="Text 37"/>
          <p:cNvSpPr/>
          <p:nvPr/>
        </p:nvSpPr>
        <p:spPr>
          <a:xfrm>
            <a:off x="8354568" y="1417320"/>
            <a:ext cx="3057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ANALYTICS</a:t>
            </a:r>
            <a:endParaRPr lang="en-US" sz="1150" dirty="0"/>
          </a:p>
        </p:txBody>
      </p:sp>
      <p:sp>
        <p:nvSpPr>
          <p:cNvPr id="51" name="Shape 38"/>
          <p:cNvSpPr/>
          <p:nvPr/>
        </p:nvSpPr>
        <p:spPr>
          <a:xfrm>
            <a:off x="8354568" y="2194560"/>
            <a:ext cx="365760" cy="36576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52" name="Image 11" descr="/home/claude/idbi_deck/icons/desktop_0D1B3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36864" y="2276856"/>
            <a:ext cx="201168" cy="201168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8839200" y="2167128"/>
            <a:ext cx="2599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Manager Dashboard</a:t>
            </a:r>
            <a:endParaRPr lang="en-US" sz="1100" dirty="0"/>
          </a:p>
        </p:txBody>
      </p:sp>
      <p:sp>
        <p:nvSpPr>
          <p:cNvPr id="54" name="Shape 40"/>
          <p:cNvSpPr/>
          <p:nvPr/>
        </p:nvSpPr>
        <p:spPr>
          <a:xfrm>
            <a:off x="8354568" y="2706624"/>
            <a:ext cx="365760" cy="36576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55" name="Image 12" descr="/home/claude/idbi_deck/icons/building_0D1B3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36864" y="2788920"/>
            <a:ext cx="201168" cy="201168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8839200" y="2679192"/>
            <a:ext cx="2599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Dashboard</a:t>
            </a:r>
            <a:endParaRPr lang="en-US" sz="1100" dirty="0"/>
          </a:p>
        </p:txBody>
      </p:sp>
      <p:sp>
        <p:nvSpPr>
          <p:cNvPr id="57" name="Shape 42"/>
          <p:cNvSpPr/>
          <p:nvPr/>
        </p:nvSpPr>
        <p:spPr>
          <a:xfrm>
            <a:off x="8354568" y="3218688"/>
            <a:ext cx="365760" cy="36576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58" name="Image 13" descr="/home/claude/idbi_deck/icons/chartbar_0D1B3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36864" y="3300984"/>
            <a:ext cx="201168" cy="201168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8839200" y="3191256"/>
            <a:ext cx="2599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100" dirty="0"/>
          </a:p>
        </p:txBody>
      </p:sp>
      <p:sp>
        <p:nvSpPr>
          <p:cNvPr id="60" name="Shape 44"/>
          <p:cNvSpPr/>
          <p:nvPr/>
        </p:nvSpPr>
        <p:spPr>
          <a:xfrm>
            <a:off x="8354568" y="3730752"/>
            <a:ext cx="365760" cy="36576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61" name="Image 14" descr="/home/claude/idbi_deck/icons/chartpie_0D1B3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36864" y="3813048"/>
            <a:ext cx="201168" cy="201168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8839200" y="3703320"/>
            <a:ext cx="25999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Customer Data to Executive Decisioning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471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AI CREDIT INTELLIGENCE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38560" y="6547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680972" cy="2048256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51382" y="1655064"/>
            <a:ext cx="475488" cy="475488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8" name="Image 0" descr="/home/claude/idbi_deck/icons/database_C9A2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254" y="1773936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92" y="2221992"/>
            <a:ext cx="15346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03504" y="15453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30780" y="1508760"/>
            <a:ext cx="1680972" cy="2048256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33522" y="1655064"/>
            <a:ext cx="475488" cy="475488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13" name="Image 1" descr="/home/claude/idbi_deck/icons/warehouse_C9A2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394" y="177393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03932" y="2221992"/>
            <a:ext cx="15346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Lake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485644" y="15453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312920" y="1508760"/>
            <a:ext cx="1680972" cy="2048256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915662" y="1655064"/>
            <a:ext cx="475488" cy="475488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18" name="Image 2" descr="/home/claude/idbi_deck/icons/checkdouble_C9A2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4534" y="177393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86072" y="2221992"/>
            <a:ext cx="15346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67784" y="15453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6195060" y="1508760"/>
            <a:ext cx="1680972" cy="2048256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797802" y="1655064"/>
            <a:ext cx="475488" cy="475488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23" name="Image 3" descr="/home/claude/idbi_deck/icons/cogs_C9A2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6674" y="177393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268212" y="2221992"/>
            <a:ext cx="15346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6249924" y="15453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8077200" y="1508760"/>
            <a:ext cx="1680972" cy="2048256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679942" y="1655064"/>
            <a:ext cx="475488" cy="475488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28" name="Image 4" descr="/home/claude/idbi_deck/icons/layergroup_C9A2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8814" y="177393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150352" y="2221992"/>
            <a:ext cx="15346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Feature Store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8132064" y="15453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9959340" y="1508760"/>
            <a:ext cx="1680972" cy="2048256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0562082" y="1655064"/>
            <a:ext cx="475488" cy="475488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33" name="Image 5" descr="/home/claude/idbi_deck/icons/brain_C9A2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0954" y="1773936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032492" y="2221992"/>
            <a:ext cx="15346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Engine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0014204" y="154533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Shape 28"/>
          <p:cNvSpPr/>
          <p:nvPr/>
        </p:nvSpPr>
        <p:spPr>
          <a:xfrm>
            <a:off x="548640" y="3758184"/>
            <a:ext cx="1680972" cy="2048256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1151382" y="3904488"/>
            <a:ext cx="475488" cy="475488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38" name="Image 6" descr="/home/claude/idbi_deck/icons/lightbulb_C9A22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70254" y="4023360"/>
            <a:ext cx="237744" cy="23774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21792" y="4471416"/>
            <a:ext cx="15346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000" dirty="0"/>
          </a:p>
        </p:txBody>
      </p:sp>
      <p:sp>
        <p:nvSpPr>
          <p:cNvPr id="40" name="Text 31"/>
          <p:cNvSpPr/>
          <p:nvPr/>
        </p:nvSpPr>
        <p:spPr>
          <a:xfrm>
            <a:off x="603504" y="37947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1" name="Shape 32"/>
          <p:cNvSpPr/>
          <p:nvPr/>
        </p:nvSpPr>
        <p:spPr>
          <a:xfrm>
            <a:off x="2430780" y="3758184"/>
            <a:ext cx="1680972" cy="2048256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3033522" y="3904488"/>
            <a:ext cx="475488" cy="475488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43" name="Image 7" descr="/home/claude/idbi_deck/icons/heartbeat_C9A22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52394" y="4023360"/>
            <a:ext cx="237744" cy="23774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2503932" y="4471416"/>
            <a:ext cx="15346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Engine</a:t>
            </a:r>
            <a:endParaRPr lang="en-US" sz="1000" dirty="0"/>
          </a:p>
        </p:txBody>
      </p:sp>
      <p:sp>
        <p:nvSpPr>
          <p:cNvPr id="45" name="Text 35"/>
          <p:cNvSpPr/>
          <p:nvPr/>
        </p:nvSpPr>
        <p:spPr>
          <a:xfrm>
            <a:off x="2485644" y="37947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6" name="Shape 36"/>
          <p:cNvSpPr/>
          <p:nvPr/>
        </p:nvSpPr>
        <p:spPr>
          <a:xfrm>
            <a:off x="4312920" y="3758184"/>
            <a:ext cx="1680972" cy="2048256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4915662" y="3904488"/>
            <a:ext cx="475488" cy="475488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48" name="Image 8" descr="/home/claude/idbi_deck/icons/bell_C9A22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34534" y="4023360"/>
            <a:ext cx="237744" cy="237744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4386072" y="4471416"/>
            <a:ext cx="15346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System</a:t>
            </a:r>
            <a:endParaRPr lang="en-US" sz="1000" dirty="0"/>
          </a:p>
        </p:txBody>
      </p:sp>
      <p:sp>
        <p:nvSpPr>
          <p:cNvPr id="50" name="Text 39"/>
          <p:cNvSpPr/>
          <p:nvPr/>
        </p:nvSpPr>
        <p:spPr>
          <a:xfrm>
            <a:off x="4367784" y="37947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6195060" y="3758184"/>
            <a:ext cx="1680972" cy="2048256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52" name="Shape 41"/>
          <p:cNvSpPr/>
          <p:nvPr/>
        </p:nvSpPr>
        <p:spPr>
          <a:xfrm>
            <a:off x="6797802" y="3904488"/>
            <a:ext cx="475488" cy="475488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53" name="Image 9" descr="/home/claude/idbi_deck/icons/robot_C9A22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16674" y="4023360"/>
            <a:ext cx="237744" cy="237744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268212" y="4471416"/>
            <a:ext cx="15346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Support</a:t>
            </a:r>
            <a:endParaRPr lang="en-US" sz="1000" dirty="0"/>
          </a:p>
        </p:txBody>
      </p:sp>
      <p:sp>
        <p:nvSpPr>
          <p:cNvPr id="55" name="Text 43"/>
          <p:cNvSpPr/>
          <p:nvPr/>
        </p:nvSpPr>
        <p:spPr>
          <a:xfrm>
            <a:off x="6249924" y="37947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8077200" y="3758184"/>
            <a:ext cx="1680972" cy="2048256"/>
          </a:xfrm>
          <a:prstGeom prst="roundRect">
            <a:avLst>
              <a:gd name="adj" fmla="val 5440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57" name="Shape 45"/>
          <p:cNvSpPr/>
          <p:nvPr/>
        </p:nvSpPr>
        <p:spPr>
          <a:xfrm>
            <a:off x="8679942" y="3904488"/>
            <a:ext cx="475488" cy="475488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58" name="Image 10" descr="/home/claude/idbi_deck/icons/chartbar_C9A227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98814" y="4023360"/>
            <a:ext cx="237744" cy="237744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8150352" y="4471416"/>
            <a:ext cx="15346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000" dirty="0"/>
          </a:p>
        </p:txBody>
      </p:sp>
      <p:sp>
        <p:nvSpPr>
          <p:cNvPr id="60" name="Text 47"/>
          <p:cNvSpPr/>
          <p:nvPr/>
        </p:nvSpPr>
        <p:spPr>
          <a:xfrm>
            <a:off x="8132064" y="379476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1" name="Shape 48"/>
          <p:cNvSpPr/>
          <p:nvPr/>
        </p:nvSpPr>
        <p:spPr>
          <a:xfrm>
            <a:off x="2229612" y="2450592"/>
            <a:ext cx="201168" cy="164592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62" name="Shape 49"/>
          <p:cNvSpPr/>
          <p:nvPr/>
        </p:nvSpPr>
        <p:spPr>
          <a:xfrm>
            <a:off x="4111752" y="2450592"/>
            <a:ext cx="201168" cy="164592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63" name="Shape 50"/>
          <p:cNvSpPr/>
          <p:nvPr/>
        </p:nvSpPr>
        <p:spPr>
          <a:xfrm>
            <a:off x="5993892" y="2450592"/>
            <a:ext cx="201168" cy="164592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64" name="Shape 51"/>
          <p:cNvSpPr/>
          <p:nvPr/>
        </p:nvSpPr>
        <p:spPr>
          <a:xfrm>
            <a:off x="7876032" y="2450592"/>
            <a:ext cx="201168" cy="164592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65" name="Shape 52"/>
          <p:cNvSpPr/>
          <p:nvPr/>
        </p:nvSpPr>
        <p:spPr>
          <a:xfrm>
            <a:off x="9758172" y="2450592"/>
            <a:ext cx="201168" cy="164592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66" name="Shape 53"/>
          <p:cNvSpPr/>
          <p:nvPr/>
        </p:nvSpPr>
        <p:spPr>
          <a:xfrm>
            <a:off x="2229612" y="4700016"/>
            <a:ext cx="201168" cy="164592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67" name="Shape 54"/>
          <p:cNvSpPr/>
          <p:nvPr/>
        </p:nvSpPr>
        <p:spPr>
          <a:xfrm>
            <a:off x="4111752" y="4700016"/>
            <a:ext cx="201168" cy="164592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68" name="Shape 55"/>
          <p:cNvSpPr/>
          <p:nvPr/>
        </p:nvSpPr>
        <p:spPr>
          <a:xfrm>
            <a:off x="5993892" y="4700016"/>
            <a:ext cx="201168" cy="164592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69" name="Shape 56"/>
          <p:cNvSpPr/>
          <p:nvPr/>
        </p:nvSpPr>
        <p:spPr>
          <a:xfrm>
            <a:off x="7876032" y="4700016"/>
            <a:ext cx="201168" cy="164592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70" name="Shape 57"/>
          <p:cNvSpPr/>
          <p:nvPr/>
        </p:nvSpPr>
        <p:spPr>
          <a:xfrm>
            <a:off x="10799826" y="3557016"/>
            <a:ext cx="9144" cy="201168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1" name="Shape 58"/>
          <p:cNvSpPr/>
          <p:nvPr/>
        </p:nvSpPr>
        <p:spPr>
          <a:xfrm>
            <a:off x="1389126" y="3758184"/>
            <a:ext cx="9410700" cy="9144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2" name="Shape 59"/>
          <p:cNvSpPr/>
          <p:nvPr/>
        </p:nvSpPr>
        <p:spPr>
          <a:xfrm>
            <a:off x="1306830" y="3739896"/>
            <a:ext cx="164592" cy="146304"/>
          </a:xfrm>
          <a:prstGeom prst="downArrow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Screens, One Connected Intelligence Layer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471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AI CREDIT INTELLIGENCE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38560" y="6547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26536" cy="4434840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17320"/>
            <a:ext cx="3526536" cy="411480"/>
          </a:xfrm>
          <a:prstGeom prst="roundRect">
            <a:avLst>
              <a:gd name="adj" fmla="val 15556"/>
            </a:avLst>
          </a:prstGeom>
          <a:solidFill>
            <a:srgbClr val="0D1B3E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618488"/>
            <a:ext cx="3526536" cy="21031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17320"/>
            <a:ext cx="3160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DASHBOARD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26108" y="2148840"/>
            <a:ext cx="1371600" cy="1371600"/>
          </a:xfrm>
          <a:prstGeom prst="pie">
            <a:avLst>
              <a:gd name="adj1" fmla="val 10800000"/>
              <a:gd name="adj2" fmla="val 21600000"/>
            </a:avLst>
          </a:prstGeom>
          <a:solidFill>
            <a:srgbClr val="EAF0FB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26108" y="2148840"/>
            <a:ext cx="1371600" cy="1371600"/>
          </a:xfrm>
          <a:prstGeom prst="pie">
            <a:avLst>
              <a:gd name="adj1" fmla="val 10800000"/>
              <a:gd name="adj2" fmla="val 18300000"/>
            </a:avLst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65960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Score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63268" y="2697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Gauge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998728" cy="365760"/>
          </a:xfrm>
          <a:prstGeom prst="roundRect">
            <a:avLst>
              <a:gd name="adj" fmla="val 12500"/>
            </a:avLst>
          </a:prstGeom>
          <a:solidFill>
            <a:srgbClr val="EDEFF4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069080"/>
            <a:ext cx="99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812544" y="4069080"/>
            <a:ext cx="998728" cy="365760"/>
          </a:xfrm>
          <a:prstGeom prst="roundRect">
            <a:avLst>
              <a:gd name="adj" fmla="val 12500"/>
            </a:avLst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1812544" y="4069080"/>
            <a:ext cx="99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893568" y="4069080"/>
            <a:ext cx="998728" cy="365760"/>
          </a:xfrm>
          <a:prstGeom prst="roundRect">
            <a:avLst>
              <a:gd name="adj" fmla="val 12500"/>
            </a:avLst>
          </a:prstGeom>
          <a:solidFill>
            <a:srgbClr val="EDEFF4"/>
          </a:solidFill>
          <a:ln/>
        </p:spPr>
      </p:sp>
      <p:sp>
        <p:nvSpPr>
          <p:cNvPr id="20" name="Text 18"/>
          <p:cNvSpPr/>
          <p:nvPr/>
        </p:nvSpPr>
        <p:spPr>
          <a:xfrm>
            <a:off x="2893568" y="4069080"/>
            <a:ext cx="998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 — Key Drivers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4983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delay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377440" y="5038344"/>
            <a:ext cx="1138733" cy="146304"/>
          </a:xfrm>
          <a:prstGeom prst="rect">
            <a:avLst/>
          </a:prstGeom>
          <a:solidFill>
            <a:srgbClr val="B3372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28523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stability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377440" y="5340096"/>
            <a:ext cx="782879" cy="14630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58698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volatility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377440" y="5641848"/>
            <a:ext cx="498196" cy="146304"/>
          </a:xfrm>
          <a:prstGeom prst="rect">
            <a:avLst/>
          </a:prstGeom>
          <a:solidFill>
            <a:srgbClr val="B3372C"/>
          </a:solidFill>
          <a:ln/>
        </p:spPr>
      </p:sp>
      <p:sp>
        <p:nvSpPr>
          <p:cNvPr id="28" name="Shape 26"/>
          <p:cNvSpPr/>
          <p:nvPr/>
        </p:nvSpPr>
        <p:spPr>
          <a:xfrm>
            <a:off x="4331208" y="1417320"/>
            <a:ext cx="3526536" cy="4434840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31208" y="1417320"/>
            <a:ext cx="3526536" cy="411480"/>
          </a:xfrm>
          <a:prstGeom prst="roundRect">
            <a:avLst>
              <a:gd name="adj" fmla="val 15556"/>
            </a:avLst>
          </a:prstGeom>
          <a:solidFill>
            <a:srgbClr val="0D1B3E"/>
          </a:solidFill>
          <a:ln/>
        </p:spPr>
      </p:sp>
      <p:sp>
        <p:nvSpPr>
          <p:cNvPr id="30" name="Shape 28"/>
          <p:cNvSpPr/>
          <p:nvPr/>
        </p:nvSpPr>
        <p:spPr>
          <a:xfrm>
            <a:off x="4331208" y="1618488"/>
            <a:ext cx="3526536" cy="21031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1" name="Text 29"/>
          <p:cNvSpPr/>
          <p:nvPr/>
        </p:nvSpPr>
        <p:spPr>
          <a:xfrm>
            <a:off x="4514088" y="1417320"/>
            <a:ext cx="3160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MANAGER DASHBOARD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514088" y="1965960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Watchlist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14088" y="2340864"/>
            <a:ext cx="128016" cy="128016"/>
          </a:xfrm>
          <a:prstGeom prst="ellipse">
            <a:avLst/>
          </a:prstGeom>
          <a:solidFill>
            <a:srgbClr val="B3372C"/>
          </a:solidFill>
          <a:ln/>
        </p:spPr>
      </p:sp>
      <p:sp>
        <p:nvSpPr>
          <p:cNvPr id="34" name="Text 32"/>
          <p:cNvSpPr/>
          <p:nvPr/>
        </p:nvSpPr>
        <p:spPr>
          <a:xfrm>
            <a:off x="4742688" y="2286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Sharma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1904" y="22860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B33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14088" y="272491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7" name="Text 35"/>
          <p:cNvSpPr/>
          <p:nvPr/>
        </p:nvSpPr>
        <p:spPr>
          <a:xfrm>
            <a:off x="4742688" y="26700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Verma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1904" y="26700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14088" y="310896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0" name="Text 38"/>
          <p:cNvSpPr/>
          <p:nvPr/>
        </p:nvSpPr>
        <p:spPr>
          <a:xfrm>
            <a:off x="4742688" y="30540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Iyer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1904" y="30540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14088" y="3493008"/>
            <a:ext cx="128016" cy="128016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43" name="Text 41"/>
          <p:cNvSpPr/>
          <p:nvPr/>
        </p:nvSpPr>
        <p:spPr>
          <a:xfrm>
            <a:off x="4742688" y="343814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Kaur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1904" y="34381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14088" y="4023360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14088" y="4343400"/>
            <a:ext cx="3160776" cy="365760"/>
          </a:xfrm>
          <a:prstGeom prst="roundRect">
            <a:avLst>
              <a:gd name="adj" fmla="val 12500"/>
            </a:avLst>
          </a:prstGeom>
          <a:solidFill>
            <a:srgbClr val="F0F3FA"/>
          </a:solidFill>
          <a:ln/>
        </p:spPr>
      </p:sp>
      <p:sp>
        <p:nvSpPr>
          <p:cNvPr id="47" name="Text 45"/>
          <p:cNvSpPr/>
          <p:nvPr/>
        </p:nvSpPr>
        <p:spPr>
          <a:xfrm>
            <a:off x="4651248" y="4343400"/>
            <a:ext cx="288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proactive call — A. Sharma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14088" y="4800600"/>
            <a:ext cx="3160776" cy="365760"/>
          </a:xfrm>
          <a:prstGeom prst="roundRect">
            <a:avLst>
              <a:gd name="adj" fmla="val 12500"/>
            </a:avLst>
          </a:prstGeom>
          <a:solidFill>
            <a:srgbClr val="F0F3FA"/>
          </a:solidFill>
          <a:ln/>
        </p:spPr>
      </p:sp>
      <p:sp>
        <p:nvSpPr>
          <p:cNvPr id="49" name="Text 47"/>
          <p:cNvSpPr/>
          <p:nvPr/>
        </p:nvSpPr>
        <p:spPr>
          <a:xfrm>
            <a:off x="4651248" y="4800600"/>
            <a:ext cx="288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restructuring options — R. Verma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14088" y="5257800"/>
            <a:ext cx="3160776" cy="365760"/>
          </a:xfrm>
          <a:prstGeom prst="roundRect">
            <a:avLst>
              <a:gd name="adj" fmla="val 12500"/>
            </a:avLst>
          </a:prstGeom>
          <a:solidFill>
            <a:srgbClr val="F0F3FA"/>
          </a:solidFill>
          <a:ln/>
        </p:spPr>
      </p:sp>
      <p:sp>
        <p:nvSpPr>
          <p:cNvPr id="51" name="Text 49"/>
          <p:cNvSpPr/>
          <p:nvPr/>
        </p:nvSpPr>
        <p:spPr>
          <a:xfrm>
            <a:off x="4651248" y="5257800"/>
            <a:ext cx="2886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income update — N. Iyer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113776" y="1417320"/>
            <a:ext cx="3526536" cy="4434840"/>
          </a:xfrm>
          <a:prstGeom prst="roundRect">
            <a:avLst>
              <a:gd name="adj" fmla="val 181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8113776" y="1417320"/>
            <a:ext cx="3526536" cy="411480"/>
          </a:xfrm>
          <a:prstGeom prst="roundRect">
            <a:avLst>
              <a:gd name="adj" fmla="val 15556"/>
            </a:avLst>
          </a:prstGeom>
          <a:solidFill>
            <a:srgbClr val="0D1B3E"/>
          </a:solidFill>
          <a:ln/>
        </p:spPr>
      </p:sp>
      <p:sp>
        <p:nvSpPr>
          <p:cNvPr id="54" name="Shape 52"/>
          <p:cNvSpPr/>
          <p:nvPr/>
        </p:nvSpPr>
        <p:spPr>
          <a:xfrm>
            <a:off x="8113776" y="1618488"/>
            <a:ext cx="3526536" cy="21031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55" name="Text 53"/>
          <p:cNvSpPr/>
          <p:nvPr/>
        </p:nvSpPr>
        <p:spPr>
          <a:xfrm>
            <a:off x="8296656" y="1417320"/>
            <a:ext cx="3160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296656" y="1965960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Heatmap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296656" y="2286000"/>
            <a:ext cx="749046" cy="310896"/>
          </a:xfrm>
          <a:prstGeom prst="rect">
            <a:avLst/>
          </a:prstGeom>
          <a:solidFill>
            <a:srgbClr val="1E7A4C">
              <a:alpha val="8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100566" y="2286000"/>
            <a:ext cx="749046" cy="310896"/>
          </a:xfrm>
          <a:prstGeom prst="rect">
            <a:avLst/>
          </a:prstGeom>
          <a:solidFill>
            <a:srgbClr val="C9A227">
              <a:alpha val="8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904476" y="2286000"/>
            <a:ext cx="749046" cy="310896"/>
          </a:xfrm>
          <a:prstGeom prst="rect">
            <a:avLst/>
          </a:prstGeom>
          <a:solidFill>
            <a:srgbClr val="1E7A4C">
              <a:alpha val="8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10708386" y="2286000"/>
            <a:ext cx="749046" cy="310896"/>
          </a:xfrm>
          <a:prstGeom prst="rect">
            <a:avLst/>
          </a:prstGeom>
          <a:solidFill>
            <a:srgbClr val="B3372C">
              <a:alpha val="8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296656" y="2651760"/>
            <a:ext cx="749046" cy="310896"/>
          </a:xfrm>
          <a:prstGeom prst="rect">
            <a:avLst/>
          </a:prstGeom>
          <a:solidFill>
            <a:srgbClr val="C9A227">
              <a:alpha val="8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100566" y="2651760"/>
            <a:ext cx="749046" cy="310896"/>
          </a:xfrm>
          <a:prstGeom prst="rect">
            <a:avLst/>
          </a:prstGeom>
          <a:solidFill>
            <a:srgbClr val="1E7A4C">
              <a:alpha val="8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904476" y="2651760"/>
            <a:ext cx="749046" cy="310896"/>
          </a:xfrm>
          <a:prstGeom prst="rect">
            <a:avLst/>
          </a:prstGeom>
          <a:solidFill>
            <a:srgbClr val="C9A227">
              <a:alpha val="8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10708386" y="2651760"/>
            <a:ext cx="749046" cy="310896"/>
          </a:xfrm>
          <a:prstGeom prst="rect">
            <a:avLst/>
          </a:prstGeom>
          <a:solidFill>
            <a:srgbClr val="1E7A4C">
              <a:alpha val="8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296656" y="3017520"/>
            <a:ext cx="749046" cy="310896"/>
          </a:xfrm>
          <a:prstGeom prst="rect">
            <a:avLst/>
          </a:prstGeom>
          <a:solidFill>
            <a:srgbClr val="B3372C">
              <a:alpha val="8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100566" y="3017520"/>
            <a:ext cx="749046" cy="310896"/>
          </a:xfrm>
          <a:prstGeom prst="rect">
            <a:avLst/>
          </a:prstGeom>
          <a:solidFill>
            <a:srgbClr val="1E7A4C">
              <a:alpha val="8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904476" y="3017520"/>
            <a:ext cx="749046" cy="310896"/>
          </a:xfrm>
          <a:prstGeom prst="rect">
            <a:avLst/>
          </a:prstGeom>
          <a:solidFill>
            <a:srgbClr val="C9A227">
              <a:alpha val="8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10708386" y="3017520"/>
            <a:ext cx="749046" cy="310896"/>
          </a:xfrm>
          <a:prstGeom prst="rect">
            <a:avLst/>
          </a:prstGeom>
          <a:solidFill>
            <a:srgbClr val="1E7A4C">
              <a:alpha val="85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8296656" y="3794760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NPA Trend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 flipV="1">
            <a:off x="8342376" y="4480560"/>
            <a:ext cx="274320" cy="13716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616696" y="4480560"/>
            <a:ext cx="274320" cy="64008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8891016" y="4343400"/>
            <a:ext cx="274320" cy="201168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165336" y="4343400"/>
            <a:ext cx="274320" cy="73152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9439656" y="4233672"/>
            <a:ext cx="274320" cy="18288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296656" y="4709160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Risk Distribution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8296656" y="5399532"/>
            <a:ext cx="573634" cy="17830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77" name="Shape 75"/>
          <p:cNvSpPr/>
          <p:nvPr/>
        </p:nvSpPr>
        <p:spPr>
          <a:xfrm>
            <a:off x="8943442" y="5250942"/>
            <a:ext cx="573634" cy="32689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78" name="Shape 76"/>
          <p:cNvSpPr/>
          <p:nvPr/>
        </p:nvSpPr>
        <p:spPr>
          <a:xfrm>
            <a:off x="9590227" y="5102352"/>
            <a:ext cx="573634" cy="475488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79" name="Shape 77"/>
          <p:cNvSpPr/>
          <p:nvPr/>
        </p:nvSpPr>
        <p:spPr>
          <a:xfrm>
            <a:off x="10237013" y="5310378"/>
            <a:ext cx="573634" cy="267462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80" name="Shape 78"/>
          <p:cNvSpPr/>
          <p:nvPr/>
        </p:nvSpPr>
        <p:spPr>
          <a:xfrm>
            <a:off x="10883798" y="5191506"/>
            <a:ext cx="573634" cy="386334"/>
          </a:xfrm>
          <a:prstGeom prst="rect">
            <a:avLst/>
          </a:prstGeom>
          <a:solidFill>
            <a:srgbClr val="0D1B3E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Enterprise-Grade, Cloud-Native Reference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SOURCES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2224A"/>
          </a:solidFill>
          <a:ln/>
        </p:spPr>
      </p:sp>
      <p:pic>
        <p:nvPicPr>
          <p:cNvPr id="7" name="Image 0" descr="/home/claude/idbi_deck/icons/university_C9A2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" y="171450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084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1783080" y="1600200"/>
            <a:ext cx="457200" cy="457200"/>
          </a:xfrm>
          <a:prstGeom prst="ellipse">
            <a:avLst/>
          </a:prstGeom>
          <a:solidFill>
            <a:srgbClr val="12224A"/>
          </a:solidFill>
          <a:ln/>
        </p:spPr>
      </p:sp>
      <p:pic>
        <p:nvPicPr>
          <p:cNvPr id="10" name="Image 1" descr="/home/claude/idbi_deck/icons/users_C9A2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7380" y="17145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54480" y="2084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750" dirty="0"/>
          </a:p>
        </p:txBody>
      </p:sp>
      <p:sp>
        <p:nvSpPr>
          <p:cNvPr id="12" name="Shape 8"/>
          <p:cNvSpPr/>
          <p:nvPr/>
        </p:nvSpPr>
        <p:spPr>
          <a:xfrm>
            <a:off x="3017520" y="1600200"/>
            <a:ext cx="457200" cy="457200"/>
          </a:xfrm>
          <a:prstGeom prst="ellipse">
            <a:avLst/>
          </a:prstGeom>
          <a:solidFill>
            <a:srgbClr val="12224A"/>
          </a:solidFill>
          <a:ln/>
        </p:spPr>
      </p:sp>
      <p:pic>
        <p:nvPicPr>
          <p:cNvPr id="13" name="Image 2" descr="/home/claude/idbi_deck/icons/fileinvoicedollar_C9A2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1820" y="171450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88920" y="208483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Mgmt</a:t>
            </a:r>
            <a:endParaRPr lang="en-US" sz="750" dirty="0"/>
          </a:p>
        </p:txBody>
      </p:sp>
      <p:sp>
        <p:nvSpPr>
          <p:cNvPr id="15" name="Shape 10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12224A"/>
          </a:solidFill>
          <a:ln/>
        </p:spPr>
      </p:sp>
      <p:pic>
        <p:nvPicPr>
          <p:cNvPr id="16" name="Image 3" descr="/home/claude/idbi_deck/icons/mobilealt_C9A2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" y="249174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20040" y="2862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</a:t>
            </a:r>
            <a:endParaRPr lang="en-US" sz="750" dirty="0"/>
          </a:p>
        </p:txBody>
      </p:sp>
      <p:sp>
        <p:nvSpPr>
          <p:cNvPr id="18" name="Shape 12"/>
          <p:cNvSpPr/>
          <p:nvPr/>
        </p:nvSpPr>
        <p:spPr>
          <a:xfrm>
            <a:off x="1783080" y="2377440"/>
            <a:ext cx="457200" cy="457200"/>
          </a:xfrm>
          <a:prstGeom prst="ellipse">
            <a:avLst/>
          </a:prstGeom>
          <a:solidFill>
            <a:srgbClr val="12224A"/>
          </a:solidFill>
          <a:ln/>
        </p:spPr>
      </p:sp>
      <p:pic>
        <p:nvPicPr>
          <p:cNvPr id="19" name="Image 4" descr="/home/claude/idbi_deck/icons/creditcard_C9A2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97380" y="2491740"/>
            <a:ext cx="228600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554480" y="2862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750" dirty="0"/>
          </a:p>
        </p:txBody>
      </p:sp>
      <p:sp>
        <p:nvSpPr>
          <p:cNvPr id="21" name="Shape 14"/>
          <p:cNvSpPr/>
          <p:nvPr/>
        </p:nvSpPr>
        <p:spPr>
          <a:xfrm>
            <a:off x="3017520" y="2377440"/>
            <a:ext cx="457200" cy="457200"/>
          </a:xfrm>
          <a:prstGeom prst="ellipse">
            <a:avLst/>
          </a:prstGeom>
          <a:solidFill>
            <a:srgbClr val="12224A"/>
          </a:solidFill>
          <a:ln/>
        </p:spPr>
      </p:sp>
      <p:pic>
        <p:nvPicPr>
          <p:cNvPr id="22" name="Image 5" descr="/home/claude/idbi_deck/icons/commentdots_C9A2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1820" y="2491740"/>
            <a:ext cx="228600" cy="22860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2788920" y="28620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750" dirty="0"/>
          </a:p>
        </p:txBody>
      </p:sp>
      <p:sp>
        <p:nvSpPr>
          <p:cNvPr id="24" name="Text 16"/>
          <p:cNvSpPr/>
          <p:nvPr/>
        </p:nvSpPr>
        <p:spPr>
          <a:xfrm>
            <a:off x="548640" y="3108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SOURCES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12224A"/>
          </a:solidFill>
          <a:ln/>
        </p:spPr>
      </p:sp>
      <p:pic>
        <p:nvPicPr>
          <p:cNvPr id="26" name="Image 6" descr="/home/claude/idbi_deck/icons/idcard_C9A22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940" y="3497580"/>
            <a:ext cx="228600" cy="2286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274320" y="3867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CIBIL</a:t>
            </a:r>
            <a:endParaRPr lang="en-US" sz="750" dirty="0"/>
          </a:p>
        </p:txBody>
      </p:sp>
      <p:sp>
        <p:nvSpPr>
          <p:cNvPr id="28" name="Shape 19"/>
          <p:cNvSpPr/>
          <p:nvPr/>
        </p:nvSpPr>
        <p:spPr>
          <a:xfrm>
            <a:off x="1783080" y="3383280"/>
            <a:ext cx="457200" cy="457200"/>
          </a:xfrm>
          <a:prstGeom prst="ellipse">
            <a:avLst/>
          </a:prstGeom>
          <a:solidFill>
            <a:srgbClr val="12224A"/>
          </a:solidFill>
          <a:ln/>
        </p:spPr>
      </p:sp>
      <p:pic>
        <p:nvPicPr>
          <p:cNvPr id="29" name="Image 7" descr="/home/claude/idbi_deck/icons/filealt_C9A22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7380" y="3497580"/>
            <a:ext cx="228600" cy="2286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1508760" y="3867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</a:t>
            </a:r>
            <a:endParaRPr lang="en-US" sz="750" dirty="0"/>
          </a:p>
        </p:txBody>
      </p:sp>
      <p:sp>
        <p:nvSpPr>
          <p:cNvPr id="31" name="Shape 21"/>
          <p:cNvSpPr/>
          <p:nvPr/>
        </p:nvSpPr>
        <p:spPr>
          <a:xfrm>
            <a:off x="3017520" y="3383280"/>
            <a:ext cx="457200" cy="457200"/>
          </a:xfrm>
          <a:prstGeom prst="ellipse">
            <a:avLst/>
          </a:prstGeom>
          <a:solidFill>
            <a:srgbClr val="12224A"/>
          </a:solidFill>
          <a:ln/>
        </p:spPr>
      </p:sp>
      <p:pic>
        <p:nvPicPr>
          <p:cNvPr id="32" name="Image 8" descr="/home/claude/idbi_deck/icons/usershield_C9A22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31820" y="3497580"/>
            <a:ext cx="228600" cy="22860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2743200" y="38679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EPFO</a:t>
            </a:r>
            <a:endParaRPr lang="en-US" sz="750" dirty="0"/>
          </a:p>
        </p:txBody>
      </p:sp>
      <p:sp>
        <p:nvSpPr>
          <p:cNvPr id="34" name="Shape 23"/>
          <p:cNvSpPr/>
          <p:nvPr/>
        </p:nvSpPr>
        <p:spPr>
          <a:xfrm>
            <a:off x="548640" y="4160520"/>
            <a:ext cx="457200" cy="457200"/>
          </a:xfrm>
          <a:prstGeom prst="ellipse">
            <a:avLst/>
          </a:prstGeom>
          <a:solidFill>
            <a:srgbClr val="12224A"/>
          </a:solidFill>
          <a:ln/>
        </p:spPr>
      </p:sp>
      <p:pic>
        <p:nvPicPr>
          <p:cNvPr id="35" name="Image 9" descr="/home/claude/idbi_deck/icons/exchangealt_C9A22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940" y="4274820"/>
            <a:ext cx="228600" cy="22860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274320" y="46451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 Aggregator</a:t>
            </a:r>
            <a:endParaRPr lang="en-US" sz="750" dirty="0"/>
          </a:p>
        </p:txBody>
      </p:sp>
      <p:sp>
        <p:nvSpPr>
          <p:cNvPr id="37" name="Shape 25"/>
          <p:cNvSpPr/>
          <p:nvPr/>
        </p:nvSpPr>
        <p:spPr>
          <a:xfrm>
            <a:off x="1783080" y="4160520"/>
            <a:ext cx="457200" cy="457200"/>
          </a:xfrm>
          <a:prstGeom prst="ellipse">
            <a:avLst/>
          </a:prstGeom>
          <a:solidFill>
            <a:srgbClr val="12224A"/>
          </a:solidFill>
          <a:ln/>
        </p:spPr>
      </p:sp>
      <p:pic>
        <p:nvPicPr>
          <p:cNvPr id="38" name="Image 10" descr="/home/claude/idbi_deck/icons/fileinvoice_C9A227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97380" y="4274820"/>
            <a:ext cx="228600" cy="22860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1508760" y="46451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</a:t>
            </a:r>
            <a:endParaRPr lang="en-US" sz="750" dirty="0"/>
          </a:p>
        </p:txBody>
      </p:sp>
      <p:sp>
        <p:nvSpPr>
          <p:cNvPr id="40" name="Shape 27"/>
          <p:cNvSpPr/>
          <p:nvPr/>
        </p:nvSpPr>
        <p:spPr>
          <a:xfrm>
            <a:off x="4160520" y="3246120"/>
            <a:ext cx="411480" cy="32004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41" name="Shape 28"/>
          <p:cNvSpPr/>
          <p:nvPr/>
        </p:nvSpPr>
        <p:spPr>
          <a:xfrm>
            <a:off x="4846320" y="1188720"/>
            <a:ext cx="3291840" cy="457200"/>
          </a:xfrm>
          <a:prstGeom prst="roundRect">
            <a:avLst>
              <a:gd name="adj" fmla="val 1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42" name="Shape 29"/>
          <p:cNvSpPr/>
          <p:nvPr/>
        </p:nvSpPr>
        <p:spPr>
          <a:xfrm>
            <a:off x="4937760" y="125272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43" name="Image 11" descr="/home/claude/idbi_deck/icons/warehouse_FFFFFF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11826" y="1326794"/>
            <a:ext cx="181051" cy="181051"/>
          </a:xfrm>
          <a:prstGeom prst="rect">
            <a:avLst/>
          </a:prstGeom>
        </p:spPr>
      </p:pic>
      <p:sp>
        <p:nvSpPr>
          <p:cNvPr id="44" name="Text 30"/>
          <p:cNvSpPr/>
          <p:nvPr/>
        </p:nvSpPr>
        <p:spPr>
          <a:xfrm>
            <a:off x="5376672" y="1188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Lake</a:t>
            </a:r>
            <a:endParaRPr lang="en-US" sz="1200" dirty="0"/>
          </a:p>
        </p:txBody>
      </p:sp>
      <p:sp>
        <p:nvSpPr>
          <p:cNvPr id="45" name="Shape 31"/>
          <p:cNvSpPr/>
          <p:nvPr/>
        </p:nvSpPr>
        <p:spPr>
          <a:xfrm>
            <a:off x="6428232" y="1645920"/>
            <a:ext cx="128016" cy="128016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46" name="Shape 32"/>
          <p:cNvSpPr/>
          <p:nvPr/>
        </p:nvSpPr>
        <p:spPr>
          <a:xfrm>
            <a:off x="4846320" y="1773936"/>
            <a:ext cx="3291840" cy="457200"/>
          </a:xfrm>
          <a:prstGeom prst="roundRect">
            <a:avLst>
              <a:gd name="adj" fmla="val 1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47" name="Shape 33"/>
          <p:cNvSpPr/>
          <p:nvPr/>
        </p:nvSpPr>
        <p:spPr>
          <a:xfrm>
            <a:off x="4937760" y="1837944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48" name="Image 12" descr="/home/claude/idbi_deck/icons/layergroup_FFFFFF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11826" y="1912010"/>
            <a:ext cx="181051" cy="181051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5376672" y="17739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200" dirty="0"/>
          </a:p>
        </p:txBody>
      </p:sp>
      <p:sp>
        <p:nvSpPr>
          <p:cNvPr id="50" name="Shape 35"/>
          <p:cNvSpPr/>
          <p:nvPr/>
        </p:nvSpPr>
        <p:spPr>
          <a:xfrm>
            <a:off x="6428232" y="2231136"/>
            <a:ext cx="128016" cy="128016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51" name="Shape 36"/>
          <p:cNvSpPr/>
          <p:nvPr/>
        </p:nvSpPr>
        <p:spPr>
          <a:xfrm>
            <a:off x="4846320" y="2359152"/>
            <a:ext cx="3291840" cy="457200"/>
          </a:xfrm>
          <a:prstGeom prst="roundRect">
            <a:avLst>
              <a:gd name="adj" fmla="val 1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52" name="Shape 37"/>
          <p:cNvSpPr/>
          <p:nvPr/>
        </p:nvSpPr>
        <p:spPr>
          <a:xfrm>
            <a:off x="4937760" y="2423160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53" name="Image 13" descr="/home/claude/idbi_deck/icons/chartline_FFFFFF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011826" y="2497226"/>
            <a:ext cx="181051" cy="181051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5376672" y="23591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Engine</a:t>
            </a:r>
            <a:endParaRPr lang="en-US" sz="1200" dirty="0"/>
          </a:p>
        </p:txBody>
      </p:sp>
      <p:sp>
        <p:nvSpPr>
          <p:cNvPr id="55" name="Shape 39"/>
          <p:cNvSpPr/>
          <p:nvPr/>
        </p:nvSpPr>
        <p:spPr>
          <a:xfrm>
            <a:off x="6428232" y="2816352"/>
            <a:ext cx="128016" cy="128016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56" name="Shape 40"/>
          <p:cNvSpPr/>
          <p:nvPr/>
        </p:nvSpPr>
        <p:spPr>
          <a:xfrm>
            <a:off x="4846320" y="2944368"/>
            <a:ext cx="3291840" cy="457200"/>
          </a:xfrm>
          <a:prstGeom prst="roundRect">
            <a:avLst>
              <a:gd name="adj" fmla="val 1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57" name="Shape 41"/>
          <p:cNvSpPr/>
          <p:nvPr/>
        </p:nvSpPr>
        <p:spPr>
          <a:xfrm>
            <a:off x="4937760" y="3008376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58" name="Image 14" descr="/home/claude/idbi_deck/icons/lightbulb_FFFFFF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11826" y="3082442"/>
            <a:ext cx="181051" cy="181051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5376672" y="29443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200" dirty="0"/>
          </a:p>
        </p:txBody>
      </p:sp>
      <p:sp>
        <p:nvSpPr>
          <p:cNvPr id="60" name="Shape 43"/>
          <p:cNvSpPr/>
          <p:nvPr/>
        </p:nvSpPr>
        <p:spPr>
          <a:xfrm>
            <a:off x="6428232" y="3401568"/>
            <a:ext cx="128016" cy="128016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61" name="Shape 44"/>
          <p:cNvSpPr/>
          <p:nvPr/>
        </p:nvSpPr>
        <p:spPr>
          <a:xfrm>
            <a:off x="4846320" y="3529584"/>
            <a:ext cx="3291840" cy="457200"/>
          </a:xfrm>
          <a:prstGeom prst="roundRect">
            <a:avLst>
              <a:gd name="adj" fmla="val 1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62" name="Shape 45"/>
          <p:cNvSpPr/>
          <p:nvPr/>
        </p:nvSpPr>
        <p:spPr>
          <a:xfrm>
            <a:off x="4937760" y="3593592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63" name="Image 15" descr="/home/claude/idbi_deck/icons/heartbeat_FFFFFF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11826" y="3667658"/>
            <a:ext cx="181051" cy="181051"/>
          </a:xfrm>
          <a:prstGeom prst="rect">
            <a:avLst/>
          </a:prstGeom>
        </p:spPr>
      </p:pic>
      <p:sp>
        <p:nvSpPr>
          <p:cNvPr id="64" name="Text 46"/>
          <p:cNvSpPr/>
          <p:nvPr/>
        </p:nvSpPr>
        <p:spPr>
          <a:xfrm>
            <a:off x="5376672" y="35295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Engine</a:t>
            </a:r>
            <a:endParaRPr lang="en-US" sz="1200" dirty="0"/>
          </a:p>
        </p:txBody>
      </p:sp>
      <p:sp>
        <p:nvSpPr>
          <p:cNvPr id="65" name="Shape 47"/>
          <p:cNvSpPr/>
          <p:nvPr/>
        </p:nvSpPr>
        <p:spPr>
          <a:xfrm>
            <a:off x="6428232" y="3986784"/>
            <a:ext cx="128016" cy="128016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66" name="Shape 48"/>
          <p:cNvSpPr/>
          <p:nvPr/>
        </p:nvSpPr>
        <p:spPr>
          <a:xfrm>
            <a:off x="4846320" y="4114800"/>
            <a:ext cx="3291840" cy="457200"/>
          </a:xfrm>
          <a:prstGeom prst="roundRect">
            <a:avLst>
              <a:gd name="adj" fmla="val 1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67" name="Shape 49"/>
          <p:cNvSpPr/>
          <p:nvPr/>
        </p:nvSpPr>
        <p:spPr>
          <a:xfrm>
            <a:off x="4937760" y="4178808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68" name="Image 16" descr="/home/claude/idbi_deck/icons/bell_FFFFFF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011826" y="4252874"/>
            <a:ext cx="181051" cy="181051"/>
          </a:xfrm>
          <a:prstGeom prst="rect">
            <a:avLst/>
          </a:prstGeom>
        </p:spPr>
      </p:pic>
      <p:sp>
        <p:nvSpPr>
          <p:cNvPr id="69" name="Text 50"/>
          <p:cNvSpPr/>
          <p:nvPr/>
        </p:nvSpPr>
        <p:spPr>
          <a:xfrm>
            <a:off x="5376672" y="4114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Engine</a:t>
            </a:r>
            <a:endParaRPr lang="en-US" sz="1200" dirty="0"/>
          </a:p>
        </p:txBody>
      </p:sp>
      <p:sp>
        <p:nvSpPr>
          <p:cNvPr id="70" name="Shape 51"/>
          <p:cNvSpPr/>
          <p:nvPr/>
        </p:nvSpPr>
        <p:spPr>
          <a:xfrm>
            <a:off x="6428232" y="4572000"/>
            <a:ext cx="128016" cy="128016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71" name="Shape 52"/>
          <p:cNvSpPr/>
          <p:nvPr/>
        </p:nvSpPr>
        <p:spPr>
          <a:xfrm>
            <a:off x="4846320" y="4700016"/>
            <a:ext cx="3291840" cy="457200"/>
          </a:xfrm>
          <a:prstGeom prst="roundRect">
            <a:avLst>
              <a:gd name="adj" fmla="val 1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72" name="Shape 53"/>
          <p:cNvSpPr/>
          <p:nvPr/>
        </p:nvSpPr>
        <p:spPr>
          <a:xfrm>
            <a:off x="4937760" y="4764024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73" name="Image 17" descr="/home/claude/idbi_deck/icons/robot_FFFFFF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011826" y="4838090"/>
            <a:ext cx="181051" cy="181051"/>
          </a:xfrm>
          <a:prstGeom prst="rect">
            <a:avLst/>
          </a:prstGeom>
        </p:spPr>
      </p:pic>
      <p:sp>
        <p:nvSpPr>
          <p:cNvPr id="74" name="Text 54"/>
          <p:cNvSpPr/>
          <p:nvPr/>
        </p:nvSpPr>
        <p:spPr>
          <a:xfrm>
            <a:off x="5376672" y="47000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</a:t>
            </a:r>
            <a:endParaRPr lang="en-US" sz="1200" dirty="0"/>
          </a:p>
        </p:txBody>
      </p:sp>
      <p:sp>
        <p:nvSpPr>
          <p:cNvPr id="75" name="Shape 55"/>
          <p:cNvSpPr/>
          <p:nvPr/>
        </p:nvSpPr>
        <p:spPr>
          <a:xfrm>
            <a:off x="6428232" y="5157216"/>
            <a:ext cx="128016" cy="128016"/>
          </a:xfrm>
          <a:prstGeom prst="downArrow">
            <a:avLst/>
          </a:prstGeom>
          <a:solidFill>
            <a:srgbClr val="C9A227"/>
          </a:solidFill>
          <a:ln/>
        </p:spPr>
      </p:sp>
      <p:sp>
        <p:nvSpPr>
          <p:cNvPr id="76" name="Shape 56"/>
          <p:cNvSpPr/>
          <p:nvPr/>
        </p:nvSpPr>
        <p:spPr>
          <a:xfrm>
            <a:off x="4846320" y="5285232"/>
            <a:ext cx="3291840" cy="457200"/>
          </a:xfrm>
          <a:prstGeom prst="roundRect">
            <a:avLst>
              <a:gd name="adj" fmla="val 1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77" name="Shape 57"/>
          <p:cNvSpPr/>
          <p:nvPr/>
        </p:nvSpPr>
        <p:spPr>
          <a:xfrm>
            <a:off x="4937760" y="5349240"/>
            <a:ext cx="329184" cy="32918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78" name="Image 18" descr="/home/claude/idbi_deck/icons/chartbar_FFFFFF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11826" y="5423306"/>
            <a:ext cx="181051" cy="181051"/>
          </a:xfrm>
          <a:prstGeom prst="rect">
            <a:avLst/>
          </a:prstGeom>
        </p:spPr>
      </p:pic>
      <p:sp>
        <p:nvSpPr>
          <p:cNvPr id="79" name="Text 58"/>
          <p:cNvSpPr/>
          <p:nvPr/>
        </p:nvSpPr>
        <p:spPr>
          <a:xfrm>
            <a:off x="5376672" y="528523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Dashboards</a:t>
            </a:r>
            <a:endParaRPr lang="en-US" sz="1200" dirty="0"/>
          </a:p>
        </p:txBody>
      </p:sp>
      <p:sp>
        <p:nvSpPr>
          <p:cNvPr id="80" name="Text 59"/>
          <p:cNvSpPr/>
          <p:nvPr/>
        </p:nvSpPr>
        <p:spPr>
          <a:xfrm>
            <a:off x="8549640" y="1188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TO</a:t>
            </a:r>
            <a:endParaRPr lang="en-US" sz="950" dirty="0"/>
          </a:p>
        </p:txBody>
      </p:sp>
      <p:sp>
        <p:nvSpPr>
          <p:cNvPr id="81" name="Shape 60"/>
          <p:cNvSpPr/>
          <p:nvPr/>
        </p:nvSpPr>
        <p:spPr>
          <a:xfrm>
            <a:off x="8549640" y="1508760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82" name="Shape 61"/>
          <p:cNvSpPr/>
          <p:nvPr/>
        </p:nvSpPr>
        <p:spPr>
          <a:xfrm>
            <a:off x="8714232" y="166420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3" name="Image 19" descr="/home/claude/idbi_deck/icons/desktop_0D1B3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828532" y="1778508"/>
            <a:ext cx="228600" cy="228600"/>
          </a:xfrm>
          <a:prstGeom prst="rect">
            <a:avLst/>
          </a:prstGeom>
        </p:spPr>
      </p:pic>
      <p:sp>
        <p:nvSpPr>
          <p:cNvPr id="84" name="Text 62"/>
          <p:cNvSpPr/>
          <p:nvPr/>
        </p:nvSpPr>
        <p:spPr>
          <a:xfrm>
            <a:off x="9326880" y="150876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Managers</a:t>
            </a:r>
            <a:endParaRPr lang="en-US" sz="1250" dirty="0"/>
          </a:p>
        </p:txBody>
      </p:sp>
      <p:sp>
        <p:nvSpPr>
          <p:cNvPr id="85" name="Shape 63"/>
          <p:cNvSpPr/>
          <p:nvPr/>
        </p:nvSpPr>
        <p:spPr>
          <a:xfrm>
            <a:off x="8549640" y="2441448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86" name="Shape 64"/>
          <p:cNvSpPr/>
          <p:nvPr/>
        </p:nvSpPr>
        <p:spPr>
          <a:xfrm>
            <a:off x="8714232" y="259689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7" name="Image 20" descr="/home/claude/idbi_deck/icons/building_0D1B3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28532" y="2711196"/>
            <a:ext cx="228600" cy="228600"/>
          </a:xfrm>
          <a:prstGeom prst="rect">
            <a:avLst/>
          </a:prstGeom>
        </p:spPr>
      </p:pic>
      <p:sp>
        <p:nvSpPr>
          <p:cNvPr id="88" name="Text 65"/>
          <p:cNvSpPr/>
          <p:nvPr/>
        </p:nvSpPr>
        <p:spPr>
          <a:xfrm>
            <a:off x="9326880" y="244144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Heads</a:t>
            </a:r>
            <a:endParaRPr lang="en-US" sz="1250" dirty="0"/>
          </a:p>
        </p:txBody>
      </p:sp>
      <p:sp>
        <p:nvSpPr>
          <p:cNvPr id="89" name="Shape 66"/>
          <p:cNvSpPr/>
          <p:nvPr/>
        </p:nvSpPr>
        <p:spPr>
          <a:xfrm>
            <a:off x="8549640" y="3374136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90" name="Shape 67"/>
          <p:cNvSpPr/>
          <p:nvPr/>
        </p:nvSpPr>
        <p:spPr>
          <a:xfrm>
            <a:off x="8714232" y="352958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91" name="Image 21" descr="/home/claude/idbi_deck/icons/chartbar_0D1B3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828532" y="3643884"/>
            <a:ext cx="228600" cy="228600"/>
          </a:xfrm>
          <a:prstGeom prst="rect">
            <a:avLst/>
          </a:prstGeom>
        </p:spPr>
      </p:pic>
      <p:sp>
        <p:nvSpPr>
          <p:cNvPr id="92" name="Text 68"/>
          <p:cNvSpPr/>
          <p:nvPr/>
        </p:nvSpPr>
        <p:spPr>
          <a:xfrm>
            <a:off x="9326880" y="337413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Executives</a:t>
            </a:r>
            <a:endParaRPr lang="en-US" sz="1250" dirty="0"/>
          </a:p>
        </p:txBody>
      </p:sp>
      <p:sp>
        <p:nvSpPr>
          <p:cNvPr id="93" name="Shape 69"/>
          <p:cNvSpPr/>
          <p:nvPr/>
        </p:nvSpPr>
        <p:spPr>
          <a:xfrm>
            <a:off x="8549640" y="4306824"/>
            <a:ext cx="3063240" cy="777240"/>
          </a:xfrm>
          <a:prstGeom prst="roundRect">
            <a:avLst>
              <a:gd name="adj" fmla="val 9412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94" name="Shape 70"/>
          <p:cNvSpPr/>
          <p:nvPr/>
        </p:nvSpPr>
        <p:spPr>
          <a:xfrm>
            <a:off x="8714232" y="446227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95" name="Image 22" descr="/home/claude/idbi_deck/icons/balance_0D1B3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828532" y="4576572"/>
            <a:ext cx="228600" cy="228600"/>
          </a:xfrm>
          <a:prstGeom prst="rect">
            <a:avLst/>
          </a:prstGeom>
        </p:spPr>
      </p:pic>
      <p:sp>
        <p:nvSpPr>
          <p:cNvPr id="96" name="Text 71"/>
          <p:cNvSpPr/>
          <p:nvPr/>
        </p:nvSpPr>
        <p:spPr>
          <a:xfrm>
            <a:off x="9326880" y="430682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/ Compliance</a:t>
            </a:r>
            <a:endParaRPr lang="en-US" sz="1250" dirty="0"/>
          </a:p>
        </p:txBody>
      </p:sp>
      <p:sp>
        <p:nvSpPr>
          <p:cNvPr id="97" name="Shape 72"/>
          <p:cNvSpPr/>
          <p:nvPr/>
        </p:nvSpPr>
        <p:spPr>
          <a:xfrm>
            <a:off x="8183880" y="3566160"/>
            <a:ext cx="320040" cy="320040"/>
          </a:xfrm>
          <a:prstGeom prst="rightArrow">
            <a:avLst/>
          </a:prstGeom>
          <a:solidFill>
            <a:srgbClr val="C9A227"/>
          </a:solidFill>
          <a:ln/>
        </p:spPr>
      </p:sp>
      <p:sp>
        <p:nvSpPr>
          <p:cNvPr id="98" name="Text 73"/>
          <p:cNvSpPr/>
          <p:nvPr/>
        </p:nvSpPr>
        <p:spPr>
          <a:xfrm>
            <a:off x="548640" y="65471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C6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AI CREDIT INTELLIGENCE PLATFORM</a:t>
            </a:r>
            <a:endParaRPr lang="en-US" sz="850" dirty="0"/>
          </a:p>
        </p:txBody>
      </p:sp>
      <p:sp>
        <p:nvSpPr>
          <p:cNvPr id="99" name="Text 74"/>
          <p:cNvSpPr/>
          <p:nvPr/>
        </p:nvSpPr>
        <p:spPr>
          <a:xfrm>
            <a:off x="11338560" y="6547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Modern, Production-Grade Engineering Foundation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471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AI CREDIT INTELLIGENCE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38560" y="6547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22042" cy="2116836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1581912"/>
            <a:ext cx="22562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30961" y="1984248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9" name="Image 0" descr="/home/claude/idbi_deck/icons/react_0D1B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118" y="2097405"/>
            <a:ext cx="276606" cy="2766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02361" y="25420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1608201" y="1984248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12" name="Image 1" descr="/home/claude/idbi_deck/icons/nextjs_0D1B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1358" y="2097405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9601" y="25420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870" dirty="0"/>
          </a:p>
        </p:txBody>
      </p:sp>
      <p:sp>
        <p:nvSpPr>
          <p:cNvPr id="14" name="Shape 10"/>
          <p:cNvSpPr/>
          <p:nvPr/>
        </p:nvSpPr>
        <p:spPr>
          <a:xfrm>
            <a:off x="2385441" y="1984248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15" name="Image 2" descr="/home/claude/idbi_deck/icons/tailwind_0D1B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8598" y="2097405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156841" y="25420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870" dirty="0"/>
          </a:p>
        </p:txBody>
      </p:sp>
      <p:sp>
        <p:nvSpPr>
          <p:cNvPr id="17" name="Shape 12"/>
          <p:cNvSpPr/>
          <p:nvPr/>
        </p:nvSpPr>
        <p:spPr>
          <a:xfrm>
            <a:off x="3371850" y="1417320"/>
            <a:ext cx="2622042" cy="2116836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3573018" y="1581912"/>
            <a:ext cx="22562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042791" y="1984248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20" name="Image 3" descr="/home/claude/idbi_deck/icons/fastapi_0D1B3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5948" y="2097405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814191" y="25420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870" dirty="0"/>
          </a:p>
        </p:txBody>
      </p:sp>
      <p:sp>
        <p:nvSpPr>
          <p:cNvPr id="22" name="Shape 16"/>
          <p:cNvSpPr/>
          <p:nvPr/>
        </p:nvSpPr>
        <p:spPr>
          <a:xfrm>
            <a:off x="4820031" y="1984248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23" name="Image 4" descr="/home/claude/idbi_deck/icons/python_0D1B3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3188" y="2097405"/>
            <a:ext cx="276606" cy="27660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4591431" y="25420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70" dirty="0"/>
          </a:p>
        </p:txBody>
      </p:sp>
      <p:sp>
        <p:nvSpPr>
          <p:cNvPr id="25" name="Shape 18"/>
          <p:cNvSpPr/>
          <p:nvPr/>
        </p:nvSpPr>
        <p:spPr>
          <a:xfrm>
            <a:off x="6195060" y="1417320"/>
            <a:ext cx="2622042" cy="2116836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6396228" y="1581912"/>
            <a:ext cx="22562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6088761" y="1984248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28" name="Image 5" descr="/home/claude/idbi_deck/icons/chartline_0D1B3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1918" y="2097405"/>
            <a:ext cx="276606" cy="27660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860161" y="25420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870" dirty="0"/>
          </a:p>
        </p:txBody>
      </p:sp>
      <p:sp>
        <p:nvSpPr>
          <p:cNvPr id="30" name="Shape 22"/>
          <p:cNvSpPr/>
          <p:nvPr/>
        </p:nvSpPr>
        <p:spPr>
          <a:xfrm>
            <a:off x="6866001" y="1984248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31" name="Image 6" descr="/home/claude/idbi_deck/icons/chartbar_0D1B3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79158" y="2097405"/>
            <a:ext cx="276606" cy="276606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637401" y="25420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870" dirty="0"/>
          </a:p>
        </p:txBody>
      </p:sp>
      <p:sp>
        <p:nvSpPr>
          <p:cNvPr id="33" name="Shape 24"/>
          <p:cNvSpPr/>
          <p:nvPr/>
        </p:nvSpPr>
        <p:spPr>
          <a:xfrm>
            <a:off x="7643241" y="1984248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34" name="Image 7" descr="/home/claude/idbi_deck/icons/chartarea_0D1B3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6398" y="2097405"/>
            <a:ext cx="276606" cy="276606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414641" y="25420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870" dirty="0"/>
          </a:p>
        </p:txBody>
      </p:sp>
      <p:sp>
        <p:nvSpPr>
          <p:cNvPr id="36" name="Shape 26"/>
          <p:cNvSpPr/>
          <p:nvPr/>
        </p:nvSpPr>
        <p:spPr>
          <a:xfrm>
            <a:off x="8420481" y="1984248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37" name="Image 8" descr="/home/claude/idbi_deck/icons/chartpie_0D1B3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33638" y="2097405"/>
            <a:ext cx="276606" cy="276606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8191881" y="25420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870" dirty="0"/>
          </a:p>
        </p:txBody>
      </p:sp>
      <p:sp>
        <p:nvSpPr>
          <p:cNvPr id="39" name="Shape 28"/>
          <p:cNvSpPr/>
          <p:nvPr/>
        </p:nvSpPr>
        <p:spPr>
          <a:xfrm>
            <a:off x="9018270" y="1417320"/>
            <a:ext cx="2622042" cy="2116836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40" name="Text 29"/>
          <p:cNvSpPr/>
          <p:nvPr/>
        </p:nvSpPr>
        <p:spPr>
          <a:xfrm>
            <a:off x="9219438" y="1581912"/>
            <a:ext cx="22562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50" dirty="0"/>
          </a:p>
        </p:txBody>
      </p:sp>
      <p:sp>
        <p:nvSpPr>
          <p:cNvPr id="41" name="Shape 30"/>
          <p:cNvSpPr/>
          <p:nvPr/>
        </p:nvSpPr>
        <p:spPr>
          <a:xfrm>
            <a:off x="9689211" y="1984248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42" name="Image 9" descr="/home/claude/idbi_deck/icons/lightbulb_0D1B3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02368" y="2097405"/>
            <a:ext cx="276606" cy="276606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9460611" y="25420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870" dirty="0"/>
          </a:p>
        </p:txBody>
      </p:sp>
      <p:sp>
        <p:nvSpPr>
          <p:cNvPr id="44" name="Shape 32"/>
          <p:cNvSpPr/>
          <p:nvPr/>
        </p:nvSpPr>
        <p:spPr>
          <a:xfrm>
            <a:off x="10466451" y="1984248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45" name="Image 10" descr="/home/claude/idbi_deck/icons/chartsearch_0D1B3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79608" y="2097405"/>
            <a:ext cx="276606" cy="276606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10237851" y="254203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</a:t>
            </a:r>
            <a:endParaRPr lang="en-US" sz="870" dirty="0"/>
          </a:p>
        </p:txBody>
      </p:sp>
      <p:sp>
        <p:nvSpPr>
          <p:cNvPr id="47" name="Shape 34"/>
          <p:cNvSpPr/>
          <p:nvPr/>
        </p:nvSpPr>
        <p:spPr>
          <a:xfrm>
            <a:off x="548640" y="3735324"/>
            <a:ext cx="2622042" cy="2116836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48" name="Text 35"/>
          <p:cNvSpPr/>
          <p:nvPr/>
        </p:nvSpPr>
        <p:spPr>
          <a:xfrm>
            <a:off x="749808" y="3899916"/>
            <a:ext cx="22562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50" dirty="0"/>
          </a:p>
        </p:txBody>
      </p:sp>
      <p:sp>
        <p:nvSpPr>
          <p:cNvPr id="49" name="Shape 36"/>
          <p:cNvSpPr/>
          <p:nvPr/>
        </p:nvSpPr>
        <p:spPr>
          <a:xfrm>
            <a:off x="1219581" y="4302252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50" name="Image 11" descr="/home/claude/idbi_deck/icons/postgres_0D1B3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32738" y="4415409"/>
            <a:ext cx="276606" cy="276606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990981" y="486003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70" dirty="0"/>
          </a:p>
        </p:txBody>
      </p:sp>
      <p:sp>
        <p:nvSpPr>
          <p:cNvPr id="52" name="Shape 38"/>
          <p:cNvSpPr/>
          <p:nvPr/>
        </p:nvSpPr>
        <p:spPr>
          <a:xfrm>
            <a:off x="1996821" y="4302252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53" name="Image 12" descr="/home/claude/idbi_deck/icons/redis_0D1B3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109978" y="4415409"/>
            <a:ext cx="276606" cy="276606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1768221" y="486003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870" dirty="0"/>
          </a:p>
        </p:txBody>
      </p:sp>
      <p:sp>
        <p:nvSpPr>
          <p:cNvPr id="55" name="Shape 40"/>
          <p:cNvSpPr/>
          <p:nvPr/>
        </p:nvSpPr>
        <p:spPr>
          <a:xfrm>
            <a:off x="3371850" y="3735324"/>
            <a:ext cx="2622042" cy="2116836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56" name="Text 41"/>
          <p:cNvSpPr/>
          <p:nvPr/>
        </p:nvSpPr>
        <p:spPr>
          <a:xfrm>
            <a:off x="3573018" y="3899916"/>
            <a:ext cx="22562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50" dirty="0"/>
          </a:p>
        </p:txBody>
      </p:sp>
      <p:sp>
        <p:nvSpPr>
          <p:cNvPr id="57" name="Shape 42"/>
          <p:cNvSpPr/>
          <p:nvPr/>
        </p:nvSpPr>
        <p:spPr>
          <a:xfrm>
            <a:off x="4042791" y="4302252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58" name="Image 13" descr="/home/claude/idbi_deck/icons/docker_0D1B3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55948" y="4415409"/>
            <a:ext cx="276606" cy="276606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3814191" y="486003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870" dirty="0"/>
          </a:p>
        </p:txBody>
      </p:sp>
      <p:sp>
        <p:nvSpPr>
          <p:cNvPr id="60" name="Shape 44"/>
          <p:cNvSpPr/>
          <p:nvPr/>
        </p:nvSpPr>
        <p:spPr>
          <a:xfrm>
            <a:off x="4820031" y="4302252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61" name="Image 14" descr="/home/claude/idbi_deck/icons/k8s_0D1B3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33188" y="4415409"/>
            <a:ext cx="276606" cy="276606"/>
          </a:xfrm>
          <a:prstGeom prst="rect">
            <a:avLst/>
          </a:prstGeom>
        </p:spPr>
      </p:pic>
      <p:sp>
        <p:nvSpPr>
          <p:cNvPr id="62" name="Text 45"/>
          <p:cNvSpPr/>
          <p:nvPr/>
        </p:nvSpPr>
        <p:spPr>
          <a:xfrm>
            <a:off x="4591431" y="486003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870" dirty="0"/>
          </a:p>
        </p:txBody>
      </p:sp>
      <p:sp>
        <p:nvSpPr>
          <p:cNvPr id="63" name="Shape 46"/>
          <p:cNvSpPr/>
          <p:nvPr/>
        </p:nvSpPr>
        <p:spPr>
          <a:xfrm>
            <a:off x="6195060" y="3735324"/>
            <a:ext cx="2622042" cy="2116836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64" name="Text 47"/>
          <p:cNvSpPr/>
          <p:nvPr/>
        </p:nvSpPr>
        <p:spPr>
          <a:xfrm>
            <a:off x="6396228" y="3899916"/>
            <a:ext cx="22562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050" dirty="0"/>
          </a:p>
        </p:txBody>
      </p:sp>
      <p:sp>
        <p:nvSpPr>
          <p:cNvPr id="65" name="Shape 48"/>
          <p:cNvSpPr/>
          <p:nvPr/>
        </p:nvSpPr>
        <p:spPr>
          <a:xfrm>
            <a:off x="6866001" y="4302252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66" name="Image 15" descr="/home/claude/idbi_deck/icons/microsoft_0D1B3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79158" y="4415409"/>
            <a:ext cx="276606" cy="276606"/>
          </a:xfrm>
          <a:prstGeom prst="rect">
            <a:avLst/>
          </a:prstGeom>
        </p:spPr>
      </p:pic>
      <p:sp>
        <p:nvSpPr>
          <p:cNvPr id="67" name="Text 49"/>
          <p:cNvSpPr/>
          <p:nvPr/>
        </p:nvSpPr>
        <p:spPr>
          <a:xfrm>
            <a:off x="6637401" y="486003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870" dirty="0"/>
          </a:p>
        </p:txBody>
      </p:sp>
      <p:sp>
        <p:nvSpPr>
          <p:cNvPr id="68" name="Shape 50"/>
          <p:cNvSpPr/>
          <p:nvPr/>
        </p:nvSpPr>
        <p:spPr>
          <a:xfrm>
            <a:off x="7643241" y="4302252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69" name="Image 16" descr="/home/claude/idbi_deck/icons/aws_0D1B3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56398" y="4415409"/>
            <a:ext cx="276606" cy="276606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7414641" y="486003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870" dirty="0"/>
          </a:p>
        </p:txBody>
      </p:sp>
      <p:sp>
        <p:nvSpPr>
          <p:cNvPr id="71" name="Shape 52"/>
          <p:cNvSpPr/>
          <p:nvPr/>
        </p:nvSpPr>
        <p:spPr>
          <a:xfrm>
            <a:off x="9018270" y="3735324"/>
            <a:ext cx="2622042" cy="2116836"/>
          </a:xfrm>
          <a:prstGeom prst="roundRect">
            <a:avLst>
              <a:gd name="adj" fmla="val 345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72" name="Text 53"/>
          <p:cNvSpPr/>
          <p:nvPr/>
        </p:nvSpPr>
        <p:spPr>
          <a:xfrm>
            <a:off x="9219438" y="3899916"/>
            <a:ext cx="22562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MONITORING</a:t>
            </a:r>
            <a:endParaRPr lang="en-US" sz="1050" dirty="0"/>
          </a:p>
        </p:txBody>
      </p:sp>
      <p:sp>
        <p:nvSpPr>
          <p:cNvPr id="73" name="Shape 54"/>
          <p:cNvSpPr/>
          <p:nvPr/>
        </p:nvSpPr>
        <p:spPr>
          <a:xfrm>
            <a:off x="9300591" y="4302252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74" name="Image 17" descr="/home/claude/idbi_deck/icons/githubactions_0D1B3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13748" y="4415409"/>
            <a:ext cx="276606" cy="276606"/>
          </a:xfrm>
          <a:prstGeom prst="rect">
            <a:avLst/>
          </a:prstGeom>
        </p:spPr>
      </p:pic>
      <p:sp>
        <p:nvSpPr>
          <p:cNvPr id="75" name="Text 55"/>
          <p:cNvSpPr/>
          <p:nvPr/>
        </p:nvSpPr>
        <p:spPr>
          <a:xfrm>
            <a:off x="9071991" y="486003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870" dirty="0"/>
          </a:p>
        </p:txBody>
      </p:sp>
      <p:sp>
        <p:nvSpPr>
          <p:cNvPr id="76" name="Shape 56"/>
          <p:cNvSpPr/>
          <p:nvPr/>
        </p:nvSpPr>
        <p:spPr>
          <a:xfrm>
            <a:off x="10077831" y="4302252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77" name="Image 18" descr="/home/claude/idbi_deck/icons/grafana_0D1B3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90988" y="4415409"/>
            <a:ext cx="276606" cy="276606"/>
          </a:xfrm>
          <a:prstGeom prst="rect">
            <a:avLst/>
          </a:prstGeom>
        </p:spPr>
      </p:pic>
      <p:sp>
        <p:nvSpPr>
          <p:cNvPr id="78" name="Text 57"/>
          <p:cNvSpPr/>
          <p:nvPr/>
        </p:nvSpPr>
        <p:spPr>
          <a:xfrm>
            <a:off x="9849231" y="486003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870" dirty="0"/>
          </a:p>
        </p:txBody>
      </p:sp>
      <p:sp>
        <p:nvSpPr>
          <p:cNvPr id="79" name="Shape 58"/>
          <p:cNvSpPr/>
          <p:nvPr/>
        </p:nvSpPr>
        <p:spPr>
          <a:xfrm>
            <a:off x="10855071" y="4302252"/>
            <a:ext cx="502920" cy="502920"/>
          </a:xfrm>
          <a:prstGeom prst="ellipse">
            <a:avLst/>
          </a:prstGeom>
          <a:solidFill>
            <a:srgbClr val="F0F3FA"/>
          </a:solidFill>
          <a:ln/>
        </p:spPr>
      </p:sp>
      <p:pic>
        <p:nvPicPr>
          <p:cNvPr id="80" name="Image 19" descr="/home/claude/idbi_deck/icons/prometheus_0D1B3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68228" y="4415409"/>
            <a:ext cx="276606" cy="276606"/>
          </a:xfrm>
          <a:prstGeom prst="rect">
            <a:avLst/>
          </a:prstGeom>
        </p:spPr>
      </p:pic>
      <p:sp>
        <p:nvSpPr>
          <p:cNvPr id="81" name="Text 59"/>
          <p:cNvSpPr/>
          <p:nvPr/>
        </p:nvSpPr>
        <p:spPr>
          <a:xfrm>
            <a:off x="10626471" y="4860036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87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8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COST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Breakdown and Expected Return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471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AI CREDIT INTELLIGENCE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38560" y="6547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5321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 BREAKDOWN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allocation across a phased rollout (illustrative, subject to detailed scoping)</a:t>
            </a:r>
            <a:endParaRPr lang="en-US" sz="9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868680" y="2331720"/>
          <a:ext cx="274320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6355080" y="1417320"/>
            <a:ext cx="528523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83096" y="1508760"/>
            <a:ext cx="420624" cy="420624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12" name="Image 0" descr="/home/claude/idbi_deck/icons/cogs_C9A2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1613916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1472184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040880" y="1728216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 engineering, ML pipeline &amp; dashboard build-out</a:t>
            </a:r>
            <a:endParaRPr lang="en-US" sz="870" dirty="0"/>
          </a:p>
        </p:txBody>
      </p:sp>
      <p:sp>
        <p:nvSpPr>
          <p:cNvPr id="15" name="Shape 11"/>
          <p:cNvSpPr/>
          <p:nvPr/>
        </p:nvSpPr>
        <p:spPr>
          <a:xfrm>
            <a:off x="6355080" y="2112264"/>
            <a:ext cx="528523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83096" y="2203704"/>
            <a:ext cx="420624" cy="420624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17" name="Image 1" descr="/home/claude/idbi_deck/icons/cloud_C9A2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252" y="2308860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40880" y="2167128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Infrastructure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7040880" y="242316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Compute, storage &amp; scaling for model training and inference</a:t>
            </a:r>
            <a:endParaRPr lang="en-US" sz="870" dirty="0"/>
          </a:p>
        </p:txBody>
      </p:sp>
      <p:sp>
        <p:nvSpPr>
          <p:cNvPr id="20" name="Shape 15"/>
          <p:cNvSpPr/>
          <p:nvPr/>
        </p:nvSpPr>
        <p:spPr>
          <a:xfrm>
            <a:off x="6355080" y="2807208"/>
            <a:ext cx="528523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83096" y="2898648"/>
            <a:ext cx="420624" cy="420624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22" name="Image 2" descr="/home/claude/idbi_deck/icons/lock_C9A2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3003804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2862072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040880" y="3118104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encryption, access control &amp; compliance safeguards</a:t>
            </a:r>
            <a:endParaRPr lang="en-US" sz="870" dirty="0"/>
          </a:p>
        </p:txBody>
      </p:sp>
      <p:sp>
        <p:nvSpPr>
          <p:cNvPr id="25" name="Shape 19"/>
          <p:cNvSpPr/>
          <p:nvPr/>
        </p:nvSpPr>
        <p:spPr>
          <a:xfrm>
            <a:off x="6355080" y="3502152"/>
            <a:ext cx="528523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483096" y="3593592"/>
            <a:ext cx="420624" cy="420624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27" name="Image 3" descr="/home/claude/idbi_deck/icons/database_C9A2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8252" y="3698748"/>
            <a:ext cx="210312" cy="2103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040880" y="3557016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7040880" y="3813048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data store, feature store &amp; backups</a:t>
            </a:r>
            <a:endParaRPr lang="en-US" sz="870" dirty="0"/>
          </a:p>
        </p:txBody>
      </p:sp>
      <p:sp>
        <p:nvSpPr>
          <p:cNvPr id="30" name="Shape 23"/>
          <p:cNvSpPr/>
          <p:nvPr/>
        </p:nvSpPr>
        <p:spPr>
          <a:xfrm>
            <a:off x="6355080" y="4197096"/>
            <a:ext cx="5285232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483096" y="4288536"/>
            <a:ext cx="420624" cy="420624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32" name="Image 4" descr="/home/claude/idbi_deck/icons/wrench_C9A2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8252" y="4393692"/>
            <a:ext cx="210312" cy="210312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40880" y="4251960"/>
            <a:ext cx="4416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Maintenance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7040880" y="4507992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model monitoring, retraining &amp; support</a:t>
            </a:r>
            <a:endParaRPr lang="en-US" sz="870" dirty="0"/>
          </a:p>
        </p:txBody>
      </p:sp>
      <p:sp>
        <p:nvSpPr>
          <p:cNvPr id="35" name="Shape 27"/>
          <p:cNvSpPr/>
          <p:nvPr/>
        </p:nvSpPr>
        <p:spPr>
          <a:xfrm>
            <a:off x="6355080" y="4965192"/>
            <a:ext cx="5285232" cy="685800"/>
          </a:xfrm>
          <a:prstGeom prst="roundRect">
            <a:avLst>
              <a:gd name="adj" fmla="val 10667"/>
            </a:avLst>
          </a:prstGeom>
          <a:solidFill>
            <a:srgbClr val="0D1B3E"/>
          </a:solidFill>
          <a:ln/>
        </p:spPr>
      </p:sp>
      <p:sp>
        <p:nvSpPr>
          <p:cNvPr id="36" name="Shape 28"/>
          <p:cNvSpPr/>
          <p:nvPr/>
        </p:nvSpPr>
        <p:spPr>
          <a:xfrm>
            <a:off x="6519672" y="508406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7" name="Image 5" descr="/home/claude/idbi_deck/icons/coins_0D1B3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3972" y="5198364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7132320" y="4965192"/>
            <a:ext cx="4325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ROI: driven by measurable NPA reduction, faster recovery cycles, and lower manual review cost — realized progressively across the rollout phases.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Dashboard Experiences Across Three Personas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471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AI CREDIT INTELLIGENCE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38560" y="6547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26536" cy="4434840"/>
          </a:xfrm>
          <a:prstGeom prst="roundRect">
            <a:avLst>
              <a:gd name="adj" fmla="val 2074"/>
            </a:avLst>
          </a:prstGeom>
          <a:solidFill>
            <a:srgbClr val="0D1B3E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563624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RISK VIEW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90116" y="2212848"/>
            <a:ext cx="1243584" cy="1243584"/>
          </a:xfrm>
          <a:prstGeom prst="pie">
            <a:avLst>
              <a:gd name="adj1" fmla="val 0"/>
              <a:gd name="adj2" fmla="val 21600000"/>
            </a:avLst>
          </a:prstGeom>
          <a:solidFill>
            <a:srgbClr val="17275A"/>
          </a:solidFill>
          <a:ln/>
        </p:spPr>
      </p:sp>
      <p:sp>
        <p:nvSpPr>
          <p:cNvPr id="9" name="Shape 7"/>
          <p:cNvSpPr/>
          <p:nvPr/>
        </p:nvSpPr>
        <p:spPr>
          <a:xfrm>
            <a:off x="1690116" y="2212848"/>
            <a:ext cx="1243584" cy="1243584"/>
          </a:xfrm>
          <a:prstGeom prst="pie">
            <a:avLst>
              <a:gd name="adj1" fmla="val 16200000"/>
              <a:gd name="adj2" fmla="val 15000000"/>
            </a:avLst>
          </a:prstGeom>
          <a:solidFill>
            <a:srgbClr val="C9A227"/>
          </a:solidFill>
          <a:ln/>
        </p:spPr>
      </p:sp>
      <p:sp>
        <p:nvSpPr>
          <p:cNvPr id="10" name="Shape 8"/>
          <p:cNvSpPr/>
          <p:nvPr/>
        </p:nvSpPr>
        <p:spPr>
          <a:xfrm>
            <a:off x="1836420" y="2359152"/>
            <a:ext cx="950976" cy="950976"/>
          </a:xfrm>
          <a:prstGeom prst="ellipse">
            <a:avLst/>
          </a:prstGeom>
          <a:solidFill>
            <a:srgbClr val="0D1B3E"/>
          </a:solidFill>
          <a:ln/>
        </p:spPr>
      </p:sp>
      <p:sp>
        <p:nvSpPr>
          <p:cNvPr id="11" name="Text 9"/>
          <p:cNvSpPr/>
          <p:nvPr/>
        </p:nvSpPr>
        <p:spPr>
          <a:xfrm>
            <a:off x="1854708" y="2606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3547872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Health Score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31520" y="4297680"/>
            <a:ext cx="316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Timeline (12 Months)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7240" y="5276088"/>
            <a:ext cx="219202" cy="301752"/>
          </a:xfrm>
          <a:prstGeom prst="rect">
            <a:avLst/>
          </a:prstGeom>
          <a:solidFill>
            <a:srgbClr val="3E5490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3018" y="5225796"/>
            <a:ext cx="219202" cy="352044"/>
          </a:xfrm>
          <a:prstGeom prst="rect">
            <a:avLst/>
          </a:prstGeom>
          <a:solidFill>
            <a:srgbClr val="3E5490"/>
          </a:solidFill>
          <a:ln/>
        </p:spPr>
      </p:sp>
      <p:sp>
        <p:nvSpPr>
          <p:cNvPr id="16" name="Shape 14"/>
          <p:cNvSpPr/>
          <p:nvPr/>
        </p:nvSpPr>
        <p:spPr>
          <a:xfrm>
            <a:off x="1288796" y="5255971"/>
            <a:ext cx="219202" cy="321869"/>
          </a:xfrm>
          <a:prstGeom prst="rect">
            <a:avLst/>
          </a:prstGeom>
          <a:solidFill>
            <a:srgbClr val="3E5490"/>
          </a:solidFill>
          <a:ln/>
        </p:spPr>
      </p:sp>
      <p:sp>
        <p:nvSpPr>
          <p:cNvPr id="17" name="Shape 15"/>
          <p:cNvSpPr/>
          <p:nvPr/>
        </p:nvSpPr>
        <p:spPr>
          <a:xfrm>
            <a:off x="1544574" y="5125212"/>
            <a:ext cx="219202" cy="452628"/>
          </a:xfrm>
          <a:prstGeom prst="rect">
            <a:avLst/>
          </a:prstGeom>
          <a:solidFill>
            <a:srgbClr val="3E5490"/>
          </a:solidFill>
          <a:ln/>
        </p:spPr>
      </p:sp>
      <p:sp>
        <p:nvSpPr>
          <p:cNvPr id="18" name="Shape 16"/>
          <p:cNvSpPr/>
          <p:nvPr/>
        </p:nvSpPr>
        <p:spPr>
          <a:xfrm>
            <a:off x="1800352" y="5074920"/>
            <a:ext cx="219202" cy="502920"/>
          </a:xfrm>
          <a:prstGeom prst="rect">
            <a:avLst/>
          </a:prstGeom>
          <a:solidFill>
            <a:srgbClr val="3E5490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6130" y="4954219"/>
            <a:ext cx="219202" cy="623621"/>
          </a:xfrm>
          <a:prstGeom prst="rect">
            <a:avLst/>
          </a:prstGeom>
          <a:solidFill>
            <a:srgbClr val="3E5490"/>
          </a:solidFill>
          <a:ln/>
        </p:spPr>
      </p:sp>
      <p:sp>
        <p:nvSpPr>
          <p:cNvPr id="20" name="Shape 18"/>
          <p:cNvSpPr/>
          <p:nvPr/>
        </p:nvSpPr>
        <p:spPr>
          <a:xfrm>
            <a:off x="2311908" y="4873752"/>
            <a:ext cx="219202" cy="7040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Shape 19"/>
          <p:cNvSpPr/>
          <p:nvPr/>
        </p:nvSpPr>
        <p:spPr>
          <a:xfrm>
            <a:off x="2567686" y="4974336"/>
            <a:ext cx="219202" cy="603504"/>
          </a:xfrm>
          <a:prstGeom prst="rect">
            <a:avLst/>
          </a:prstGeom>
          <a:solidFill>
            <a:srgbClr val="3E5490"/>
          </a:solidFill>
          <a:ln/>
        </p:spPr>
      </p:sp>
      <p:sp>
        <p:nvSpPr>
          <p:cNvPr id="22" name="Shape 20"/>
          <p:cNvSpPr/>
          <p:nvPr/>
        </p:nvSpPr>
        <p:spPr>
          <a:xfrm>
            <a:off x="2823464" y="4823460"/>
            <a:ext cx="219202" cy="75438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Shape 21"/>
          <p:cNvSpPr/>
          <p:nvPr/>
        </p:nvSpPr>
        <p:spPr>
          <a:xfrm>
            <a:off x="3079242" y="4893869"/>
            <a:ext cx="219202" cy="683971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4" name="Shape 22"/>
          <p:cNvSpPr/>
          <p:nvPr/>
        </p:nvSpPr>
        <p:spPr>
          <a:xfrm>
            <a:off x="3335020" y="4773168"/>
            <a:ext cx="219202" cy="80467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3590798" y="4722876"/>
            <a:ext cx="219202" cy="85496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6" name="Shape 24"/>
          <p:cNvSpPr/>
          <p:nvPr/>
        </p:nvSpPr>
        <p:spPr>
          <a:xfrm>
            <a:off x="4331208" y="1417320"/>
            <a:ext cx="3526536" cy="4434840"/>
          </a:xfrm>
          <a:prstGeom prst="roundRect">
            <a:avLst>
              <a:gd name="adj" fmla="val 2074"/>
            </a:avLst>
          </a:prstGeom>
          <a:solidFill>
            <a:srgbClr val="0D1B3E"/>
          </a:solidFill>
          <a:ln/>
        </p:spPr>
      </p:sp>
      <p:sp>
        <p:nvSpPr>
          <p:cNvPr id="27" name="Text 25"/>
          <p:cNvSpPr/>
          <p:nvPr/>
        </p:nvSpPr>
        <p:spPr>
          <a:xfrm>
            <a:off x="4532376" y="1563624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— SHAP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14088" y="1965960"/>
            <a:ext cx="316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Contributing Factors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14088" y="2331720"/>
            <a:ext cx="3160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delays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14088" y="2587752"/>
            <a:ext cx="2686660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/>
          <p:nvPr/>
        </p:nvSpPr>
        <p:spPr>
          <a:xfrm>
            <a:off x="4514088" y="2834640"/>
            <a:ext cx="3160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debt ratio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14088" y="3090672"/>
            <a:ext cx="1959681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4514088" y="3337560"/>
            <a:ext cx="3160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employment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14088" y="3593592"/>
            <a:ext cx="1580388" cy="128016"/>
          </a:xfrm>
          <a:prstGeom prst="rect">
            <a:avLst/>
          </a:prstGeom>
          <a:solidFill>
            <a:srgbClr val="3E9D74"/>
          </a:solidFill>
          <a:ln/>
        </p:spPr>
      </p:sp>
      <p:sp>
        <p:nvSpPr>
          <p:cNvPr id="35" name="Text 33"/>
          <p:cNvSpPr/>
          <p:nvPr/>
        </p:nvSpPr>
        <p:spPr>
          <a:xfrm>
            <a:off x="4514088" y="3840480"/>
            <a:ext cx="3160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growth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14088" y="4096512"/>
            <a:ext cx="1201095" cy="128016"/>
          </a:xfrm>
          <a:prstGeom prst="rect">
            <a:avLst/>
          </a:prstGeom>
          <a:solidFill>
            <a:srgbClr val="3E9D74"/>
          </a:solidFill>
          <a:ln/>
        </p:spPr>
      </p:sp>
      <p:sp>
        <p:nvSpPr>
          <p:cNvPr id="37" name="Text 35"/>
          <p:cNvSpPr/>
          <p:nvPr/>
        </p:nvSpPr>
        <p:spPr>
          <a:xfrm>
            <a:off x="4514088" y="4343400"/>
            <a:ext cx="3160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volatility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14088" y="4599432"/>
            <a:ext cx="885017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9" name="Text 37"/>
          <p:cNvSpPr/>
          <p:nvPr/>
        </p:nvSpPr>
        <p:spPr>
          <a:xfrm>
            <a:off x="4514088" y="5029200"/>
            <a:ext cx="316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 Distribution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14088" y="5394960"/>
            <a:ext cx="1738427" cy="274320"/>
          </a:xfrm>
          <a:prstGeom prst="rect">
            <a:avLst/>
          </a:prstGeom>
          <a:solidFill>
            <a:srgbClr val="3E9D74"/>
          </a:solidFill>
          <a:ln/>
        </p:spPr>
      </p:sp>
      <p:sp>
        <p:nvSpPr>
          <p:cNvPr id="41" name="Shape 39"/>
          <p:cNvSpPr/>
          <p:nvPr/>
        </p:nvSpPr>
        <p:spPr>
          <a:xfrm>
            <a:off x="6252515" y="5394960"/>
            <a:ext cx="948233" cy="2743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2" name="Shape 40"/>
          <p:cNvSpPr/>
          <p:nvPr/>
        </p:nvSpPr>
        <p:spPr>
          <a:xfrm>
            <a:off x="7200748" y="5394960"/>
            <a:ext cx="474116" cy="274320"/>
          </a:xfrm>
          <a:prstGeom prst="rect">
            <a:avLst/>
          </a:prstGeom>
          <a:solidFill>
            <a:srgbClr val="C0473C"/>
          </a:solidFill>
          <a:ln/>
        </p:spPr>
      </p:sp>
      <p:sp>
        <p:nvSpPr>
          <p:cNvPr id="43" name="Text 41"/>
          <p:cNvSpPr/>
          <p:nvPr/>
        </p:nvSpPr>
        <p:spPr>
          <a:xfrm>
            <a:off x="4514088" y="5742432"/>
            <a:ext cx="316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55%   ·   Medium 30%   ·   High 15%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113776" y="1417320"/>
            <a:ext cx="3526536" cy="4434840"/>
          </a:xfrm>
          <a:prstGeom prst="roundRect">
            <a:avLst>
              <a:gd name="adj" fmla="val 2074"/>
            </a:avLst>
          </a:prstGeom>
          <a:solidFill>
            <a:srgbClr val="0D1B3E"/>
          </a:solidFill>
          <a:ln/>
        </p:spPr>
      </p:sp>
      <p:sp>
        <p:nvSpPr>
          <p:cNvPr id="45" name="Text 43"/>
          <p:cNvSpPr/>
          <p:nvPr/>
        </p:nvSpPr>
        <p:spPr>
          <a:xfrm>
            <a:off x="8314944" y="1563624"/>
            <a:ext cx="3160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&amp; BRANCH VIEW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296656" y="1984248"/>
            <a:ext cx="3160776" cy="457200"/>
          </a:xfrm>
          <a:prstGeom prst="roundRect">
            <a:avLst>
              <a:gd name="adj" fmla="val 12000"/>
            </a:avLst>
          </a:prstGeom>
          <a:solidFill>
            <a:srgbClr val="17275A"/>
          </a:solidFill>
          <a:ln/>
        </p:spPr>
      </p:sp>
      <p:sp>
        <p:nvSpPr>
          <p:cNvPr id="47" name="Text 45"/>
          <p:cNvSpPr/>
          <p:nvPr/>
        </p:nvSpPr>
        <p:spPr>
          <a:xfrm>
            <a:off x="8433816" y="19842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Alerts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0634472" y="1984248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296656" y="2551176"/>
            <a:ext cx="3160776" cy="457200"/>
          </a:xfrm>
          <a:prstGeom prst="roundRect">
            <a:avLst>
              <a:gd name="adj" fmla="val 12000"/>
            </a:avLst>
          </a:prstGeom>
          <a:solidFill>
            <a:srgbClr val="17275A"/>
          </a:solidFill>
          <a:ln/>
        </p:spPr>
      </p:sp>
      <p:sp>
        <p:nvSpPr>
          <p:cNvPr id="50" name="Text 48"/>
          <p:cNvSpPr/>
          <p:nvPr/>
        </p:nvSpPr>
        <p:spPr>
          <a:xfrm>
            <a:off x="8433816" y="255117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A/Cs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634472" y="2551176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142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296656" y="3118104"/>
            <a:ext cx="3160776" cy="457200"/>
          </a:xfrm>
          <a:prstGeom prst="roundRect">
            <a:avLst>
              <a:gd name="adj" fmla="val 12000"/>
            </a:avLst>
          </a:prstGeom>
          <a:solidFill>
            <a:srgbClr val="17275A"/>
          </a:solidFill>
          <a:ln/>
        </p:spPr>
      </p:sp>
      <p:sp>
        <p:nvSpPr>
          <p:cNvPr id="53" name="Text 51"/>
          <p:cNvSpPr/>
          <p:nvPr/>
        </p:nvSpPr>
        <p:spPr>
          <a:xfrm>
            <a:off x="8433816" y="31181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Monitored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10634472" y="3118104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296656" y="3794760"/>
            <a:ext cx="3160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Risk Comparison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296656" y="4873752"/>
            <a:ext cx="465836" cy="47548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7" name="Shape 55"/>
          <p:cNvSpPr/>
          <p:nvPr/>
        </p:nvSpPr>
        <p:spPr>
          <a:xfrm>
            <a:off x="8835644" y="4457700"/>
            <a:ext cx="465836" cy="8915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8" name="Shape 56"/>
          <p:cNvSpPr/>
          <p:nvPr/>
        </p:nvSpPr>
        <p:spPr>
          <a:xfrm>
            <a:off x="9374632" y="4695444"/>
            <a:ext cx="465836" cy="65379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9" name="Shape 57"/>
          <p:cNvSpPr/>
          <p:nvPr/>
        </p:nvSpPr>
        <p:spPr>
          <a:xfrm>
            <a:off x="9913620" y="4992624"/>
            <a:ext cx="465836" cy="3566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0" name="Shape 58"/>
          <p:cNvSpPr/>
          <p:nvPr/>
        </p:nvSpPr>
        <p:spPr>
          <a:xfrm>
            <a:off x="10452608" y="4576572"/>
            <a:ext cx="465836" cy="7726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1" name="Shape 59"/>
          <p:cNvSpPr/>
          <p:nvPr/>
        </p:nvSpPr>
        <p:spPr>
          <a:xfrm>
            <a:off x="10991596" y="4754880"/>
            <a:ext cx="465836" cy="5943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2" name="Shape 60"/>
          <p:cNvSpPr/>
          <p:nvPr/>
        </p:nvSpPr>
        <p:spPr>
          <a:xfrm>
            <a:off x="8296656" y="5349240"/>
            <a:ext cx="3160776" cy="914"/>
          </a:xfrm>
          <a:prstGeom prst="line">
            <a:avLst/>
          </a:prstGeom>
          <a:noFill/>
          <a:ln w="12700">
            <a:solidFill>
              <a:srgbClr val="3E549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96656" y="5394960"/>
            <a:ext cx="3160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1–6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Value Across the Lending Lifecycle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5471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AI CREDIT INTELLIGENCE PLATFORM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338560" y="6547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49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2204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8" name="Image 0" descr="/home/claude/idbi_deck/icons/triangle_C9A2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71450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194560"/>
            <a:ext cx="22562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Earlier Risk Detection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" y="2496312"/>
            <a:ext cx="22562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stress signals well before default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3371850" y="1417320"/>
            <a:ext cx="262204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54730" y="1600200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13" name="Image 1" descr="/home/claude/idbi_deck/icons/handholding_C9A2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030" y="1714500"/>
            <a:ext cx="228600" cy="2286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54730" y="2194560"/>
            <a:ext cx="22562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Recovery Planning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554730" y="2496312"/>
            <a:ext cx="22562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Prioritized, data-driven recovery action</a:t>
            </a:r>
            <a:endParaRPr lang="en-US" sz="870" dirty="0"/>
          </a:p>
        </p:txBody>
      </p:sp>
      <p:sp>
        <p:nvSpPr>
          <p:cNvPr id="16" name="Shape 12"/>
          <p:cNvSpPr/>
          <p:nvPr/>
        </p:nvSpPr>
        <p:spPr>
          <a:xfrm>
            <a:off x="6195060" y="1417320"/>
            <a:ext cx="262204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77940" y="1600200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18" name="Image 2" descr="/home/claude/idbi_deck/icons/chartline_C9A2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71450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77940" y="2194560"/>
            <a:ext cx="22562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Lending Decisions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77940" y="2496312"/>
            <a:ext cx="22562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evidence-backed underwriting</a:t>
            </a:r>
            <a:endParaRPr lang="en-US" sz="870" dirty="0"/>
          </a:p>
        </p:txBody>
      </p:sp>
      <p:sp>
        <p:nvSpPr>
          <p:cNvPr id="21" name="Shape 16"/>
          <p:cNvSpPr/>
          <p:nvPr/>
        </p:nvSpPr>
        <p:spPr>
          <a:xfrm>
            <a:off x="9018270" y="1417320"/>
            <a:ext cx="262204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201150" y="1600200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23" name="Image 3" descr="/home/claude/idbi_deck/icons/cogs_C9A2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5450" y="1714500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01150" y="2194560"/>
            <a:ext cx="22562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Manual Analysis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201150" y="2496312"/>
            <a:ext cx="22562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routine credit assessment work</a:t>
            </a:r>
            <a:endParaRPr lang="en-US" sz="870" dirty="0"/>
          </a:p>
        </p:txBody>
      </p:sp>
      <p:sp>
        <p:nvSpPr>
          <p:cNvPr id="26" name="Shape 20"/>
          <p:cNvSpPr/>
          <p:nvPr/>
        </p:nvSpPr>
        <p:spPr>
          <a:xfrm>
            <a:off x="548640" y="3035808"/>
            <a:ext cx="262204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31520" y="3218688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28" name="Image 4" descr="/home/claude/idbi_deck/icons/usertie_C9A2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820" y="3332988"/>
            <a:ext cx="228600" cy="2286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31520" y="3813048"/>
            <a:ext cx="22562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RM Productivity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731520" y="4114800"/>
            <a:ext cx="22562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relationship managers on priority accounts</a:t>
            </a:r>
            <a:endParaRPr lang="en-US" sz="870" dirty="0"/>
          </a:p>
        </p:txBody>
      </p:sp>
      <p:sp>
        <p:nvSpPr>
          <p:cNvPr id="31" name="Shape 24"/>
          <p:cNvSpPr/>
          <p:nvPr/>
        </p:nvSpPr>
        <p:spPr>
          <a:xfrm>
            <a:off x="3371850" y="3035808"/>
            <a:ext cx="262204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554730" y="3218688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33" name="Image 5" descr="/home/claude/idbi_deck/icons/lightbulb_C9A2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9030" y="3332988"/>
            <a:ext cx="228600" cy="2286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554730" y="3813048"/>
            <a:ext cx="22562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AI Decisions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3554730" y="4114800"/>
            <a:ext cx="22562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 explained, end to end</a:t>
            </a:r>
            <a:endParaRPr lang="en-US" sz="870" dirty="0"/>
          </a:p>
        </p:txBody>
      </p:sp>
      <p:sp>
        <p:nvSpPr>
          <p:cNvPr id="36" name="Shape 28"/>
          <p:cNvSpPr/>
          <p:nvPr/>
        </p:nvSpPr>
        <p:spPr>
          <a:xfrm>
            <a:off x="6195060" y="3035808"/>
            <a:ext cx="262204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A1229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377940" y="3218688"/>
            <a:ext cx="457200" cy="457200"/>
          </a:xfrm>
          <a:prstGeom prst="ellipse">
            <a:avLst/>
          </a:prstGeom>
          <a:solidFill>
            <a:srgbClr val="0D1B3E"/>
          </a:solidFill>
          <a:ln/>
        </p:spPr>
      </p:sp>
      <p:pic>
        <p:nvPicPr>
          <p:cNvPr id="38" name="Image 6" descr="/home/claude/idbi_deck/icons/arrowdown_C9A22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0" y="3332988"/>
            <a:ext cx="228600" cy="2286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377940" y="3813048"/>
            <a:ext cx="22562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Reduced NPA Risk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6377940" y="4114800"/>
            <a:ext cx="225628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70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intervention lowers default exposure</a:t>
            </a:r>
            <a:endParaRPr lang="en-US" sz="870" dirty="0"/>
          </a:p>
        </p:txBody>
      </p:sp>
      <p:sp>
        <p:nvSpPr>
          <p:cNvPr id="41" name="Shape 32"/>
          <p:cNvSpPr/>
          <p:nvPr/>
        </p:nvSpPr>
        <p:spPr>
          <a:xfrm>
            <a:off x="548640" y="47091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D1B3E"/>
          </a:solidFill>
          <a:ln/>
        </p:spPr>
      </p:sp>
      <p:sp>
        <p:nvSpPr>
          <p:cNvPr id="42" name="Text 33"/>
          <p:cNvSpPr/>
          <p:nvPr/>
        </p:nvSpPr>
        <p:spPr>
          <a:xfrm>
            <a:off x="822960" y="470916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is expressed directionally here; exact figures will be validated against IDBI Bank's historical portfolio during pilot deployment.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Extending the Platform Into a Full Banking Intelligence Suite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057400" cy="2116836"/>
          </a:xfrm>
          <a:prstGeom prst="roundRect">
            <a:avLst>
              <a:gd name="adj" fmla="val 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25880" y="1673352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7" name="Image 0" descr="/home/claude/idbi_deck/icons/usersecret_C9A2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610" y="1799082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331720"/>
            <a:ext cx="1874520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58368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807208" y="1417320"/>
            <a:ext cx="2057400" cy="2116836"/>
          </a:xfrm>
          <a:prstGeom prst="roundRect">
            <a:avLst>
              <a:gd name="adj" fmla="val 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84448" y="1673352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2" name="Image 1" descr="/home/claude/idbi_deck/icons/userminus_C9A2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178" y="1799082"/>
            <a:ext cx="251460" cy="251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98648" y="2331720"/>
            <a:ext cx="1874520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916936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065776" y="1417320"/>
            <a:ext cx="2057400" cy="2116836"/>
          </a:xfrm>
          <a:prstGeom prst="roundRect">
            <a:avLst>
              <a:gd name="adj" fmla="val 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843016" y="1673352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7" name="Image 2" descr="/home/claude/idbi_deck/icons/checksquare_C9A2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8746" y="1799082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57216" y="2331720"/>
            <a:ext cx="1874520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Optimization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5175504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7324344" y="1417320"/>
            <a:ext cx="2057400" cy="2116836"/>
          </a:xfrm>
          <a:prstGeom prst="roundRect">
            <a:avLst>
              <a:gd name="adj" fmla="val 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101584" y="1673352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2" name="Image 3" descr="/home/claude/idbi_deck/icons/handshake_C9A2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7314" y="1799082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15784" y="2331720"/>
            <a:ext cx="1874520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Cross-Sell Recommendation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7434072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9582912" y="1417320"/>
            <a:ext cx="2057400" cy="2116836"/>
          </a:xfrm>
          <a:prstGeom prst="roundRect">
            <a:avLst>
              <a:gd name="adj" fmla="val 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360152" y="1673352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7" name="Image 4" descr="/home/claude/idbi_deck/icons/wallet_C9A22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85882" y="1799082"/>
            <a:ext cx="251460" cy="2514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674352" y="2331720"/>
            <a:ext cx="1874520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Finance Advisor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969264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548640" y="3735324"/>
            <a:ext cx="2057400" cy="2116836"/>
          </a:xfrm>
          <a:prstGeom prst="roundRect">
            <a:avLst>
              <a:gd name="adj" fmla="val 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1325880" y="3991356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32" name="Image 5" descr="/home/claude/idbi_deck/icons/robot_C9A2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51610" y="4117086"/>
            <a:ext cx="251460" cy="2514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40080" y="4649724"/>
            <a:ext cx="1874520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Banking Copilot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658368" y="38267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Shape 27"/>
          <p:cNvSpPr/>
          <p:nvPr/>
        </p:nvSpPr>
        <p:spPr>
          <a:xfrm>
            <a:off x="2807208" y="3735324"/>
            <a:ext cx="2057400" cy="2116836"/>
          </a:xfrm>
          <a:prstGeom prst="roundRect">
            <a:avLst>
              <a:gd name="adj" fmla="val 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3584448" y="3991356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37" name="Image 6" descr="/home/claude/idbi_deck/icons/microphone_C9A22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0178" y="4117086"/>
            <a:ext cx="251460" cy="2514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898648" y="4649724"/>
            <a:ext cx="1874520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Banking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2916936" y="38267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0" name="Shape 31"/>
          <p:cNvSpPr/>
          <p:nvPr/>
        </p:nvSpPr>
        <p:spPr>
          <a:xfrm>
            <a:off x="5065776" y="3735324"/>
            <a:ext cx="2057400" cy="2116836"/>
          </a:xfrm>
          <a:prstGeom prst="roundRect">
            <a:avLst>
              <a:gd name="adj" fmla="val 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5843016" y="3991356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42" name="Image 7" descr="/home/claude/idbi_deck/icons/book_C9A22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8746" y="4117086"/>
            <a:ext cx="251460" cy="25146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5157216" y="4649724"/>
            <a:ext cx="1874520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Knowledge Assistant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5175504" y="38267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7324344" y="3735324"/>
            <a:ext cx="2057400" cy="2116836"/>
          </a:xfrm>
          <a:prstGeom prst="roundRect">
            <a:avLst>
              <a:gd name="adj" fmla="val 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8101584" y="3991356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47" name="Image 8" descr="/home/claude/idbi_deck/icons/filecontract_C9A22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7314" y="4117086"/>
            <a:ext cx="251460" cy="251460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7415784" y="4649724"/>
            <a:ext cx="1874520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7434072" y="38267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9582912" y="3735324"/>
            <a:ext cx="2057400" cy="2116836"/>
          </a:xfrm>
          <a:prstGeom prst="roundRect">
            <a:avLst>
              <a:gd name="adj" fmla="val 4000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10360152" y="3991356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52" name="Image 9" descr="/home/claude/idbi_deck/icons/clone_C9A227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85882" y="4117086"/>
            <a:ext cx="251460" cy="25146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9674352" y="4649724"/>
            <a:ext cx="1874520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of Customer</a:t>
            </a:r>
            <a:endParaRPr lang="en-US" sz="1050" dirty="0"/>
          </a:p>
        </p:txBody>
      </p:sp>
      <p:sp>
        <p:nvSpPr>
          <p:cNvPr id="54" name="Text 42"/>
          <p:cNvSpPr/>
          <p:nvPr/>
        </p:nvSpPr>
        <p:spPr>
          <a:xfrm>
            <a:off x="9692640" y="38267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85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</a:t>
            </a:r>
            <a:endParaRPr lang="en-US" sz="900" dirty="0"/>
          </a:p>
        </p:txBody>
      </p:sp>
      <p:sp>
        <p:nvSpPr>
          <p:cNvPr id="55" name="Text 43"/>
          <p:cNvSpPr/>
          <p:nvPr/>
        </p:nvSpPr>
        <p:spPr>
          <a:xfrm>
            <a:off x="548640" y="654710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5C6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IDBI AI CREDIT INTELLIGENCE PLATFORM</a:t>
            </a:r>
            <a:endParaRPr lang="en-US" sz="850" dirty="0"/>
          </a:p>
        </p:txBody>
      </p:sp>
      <p:sp>
        <p:nvSpPr>
          <p:cNvPr id="56" name="Text 44"/>
          <p:cNvSpPr/>
          <p:nvPr/>
        </p:nvSpPr>
        <p:spPr>
          <a:xfrm>
            <a:off x="11338560" y="654710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2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flipV="1">
            <a:off x="9692640" y="4572000"/>
            <a:ext cx="1005840" cy="365760"/>
          </a:xfrm>
          <a:prstGeom prst="line">
            <a:avLst/>
          </a:prstGeom>
          <a:noFill/>
          <a:ln w="12700">
            <a:solidFill>
              <a:srgbClr val="2451C4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4937760"/>
            <a:ext cx="640080" cy="731520"/>
          </a:xfrm>
          <a:prstGeom prst="line">
            <a:avLst/>
          </a:prstGeom>
          <a:noFill/>
          <a:ln w="12700">
            <a:solidFill>
              <a:srgbClr val="2451C4">
                <a:alpha val="7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4572000"/>
            <a:ext cx="731520" cy="640080"/>
          </a:xfrm>
          <a:prstGeom prst="line">
            <a:avLst/>
          </a:prstGeom>
          <a:noFill/>
          <a:ln w="12700">
            <a:solidFill>
              <a:srgbClr val="2451C4">
                <a:alpha val="7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0" y="5212080"/>
            <a:ext cx="182880" cy="640080"/>
          </a:xfrm>
          <a:prstGeom prst="line">
            <a:avLst/>
          </a:prstGeom>
          <a:noFill/>
          <a:ln w="12700">
            <a:solidFill>
              <a:srgbClr val="2451C4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0" y="5669280"/>
            <a:ext cx="1280160" cy="182880"/>
          </a:xfrm>
          <a:prstGeom prst="line">
            <a:avLst/>
          </a:prstGeom>
          <a:noFill/>
          <a:ln w="12700">
            <a:solidFill>
              <a:srgbClr val="2451C4">
                <a:alpha val="7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4572000"/>
            <a:ext cx="365760" cy="1097280"/>
          </a:xfrm>
          <a:prstGeom prst="line">
            <a:avLst/>
          </a:prstGeom>
          <a:noFill/>
          <a:ln w="12700">
            <a:solidFill>
              <a:srgbClr val="2451C4">
                <a:alpha val="7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46920" y="4892040"/>
            <a:ext cx="91440" cy="91440"/>
          </a:xfrm>
          <a:prstGeom prst="ellipse">
            <a:avLst/>
          </a:prstGeom>
          <a:solidFill>
            <a:srgbClr val="4A6BD8"/>
          </a:solidFill>
          <a:ln/>
        </p:spPr>
      </p:sp>
      <p:sp>
        <p:nvSpPr>
          <p:cNvPr id="10" name="Shape 8"/>
          <p:cNvSpPr/>
          <p:nvPr/>
        </p:nvSpPr>
        <p:spPr>
          <a:xfrm>
            <a:off x="10652760" y="4526280"/>
            <a:ext cx="91440" cy="91440"/>
          </a:xfrm>
          <a:prstGeom prst="ellipse">
            <a:avLst/>
          </a:prstGeom>
          <a:solidFill>
            <a:srgbClr val="4A6BD8"/>
          </a:solidFill>
          <a:ln/>
        </p:spPr>
      </p:sp>
      <p:sp>
        <p:nvSpPr>
          <p:cNvPr id="11" name="Shape 9"/>
          <p:cNvSpPr/>
          <p:nvPr/>
        </p:nvSpPr>
        <p:spPr>
          <a:xfrm>
            <a:off x="11384280" y="516636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87000" y="5623560"/>
            <a:ext cx="91440" cy="91440"/>
          </a:xfrm>
          <a:prstGeom prst="ellipse">
            <a:avLst/>
          </a:prstGeom>
          <a:solidFill>
            <a:srgbClr val="4A6BD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567160" y="5806440"/>
            <a:ext cx="91440" cy="91440"/>
          </a:xfrm>
          <a:prstGeom prst="ellipse">
            <a:avLst/>
          </a:prstGeom>
          <a:solidFill>
            <a:srgbClr val="4A6BD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12801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Predict.  Explain.  Prevent.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22960" y="2103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Intelligent Banking Starts Here.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31089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" y="3310128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9" name="Image 0" descr="/home/claude/idbi_deck/icons/github_0D1B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58" y="3435858"/>
            <a:ext cx="251460" cy="25146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69164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Repository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691640" y="362102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github.com/team-neural-ledger/idbi-credit-intelligence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434840" y="31089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36008" y="3310128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4" name="Image 1" descr="/home/claude/idbi_deck/icons/video_0D1B3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1738" y="3435858"/>
            <a:ext cx="251460" cy="2514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0352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Video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5303520" y="362102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be shared at submission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8046720" y="310896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12224A"/>
          </a:solidFill>
          <a:ln w="9525">
            <a:solidFill>
              <a:srgbClr val="24345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247888" y="3310128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9" name="Image 2" descr="/home/claude/idbi_deck/icons/envelope_0D1B3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618" y="3435858"/>
            <a:ext cx="251460" cy="25146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91540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8915400" y="362102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AA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team.neuralledger@example.com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822960" y="4617720"/>
            <a:ext cx="12344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</p:spPr>
      </p:sp>
      <p:sp>
        <p:nvSpPr>
          <p:cNvPr id="33" name="Shape 28"/>
          <p:cNvSpPr/>
          <p:nvPr/>
        </p:nvSpPr>
        <p:spPr>
          <a:xfrm>
            <a:off x="1028700" y="48234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4" name="Image 3" descr="/home/claude/idbi_deck/icons/qrcode_0D1B3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0422" y="4885182"/>
            <a:ext cx="699516" cy="69951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2286000" y="4937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Project Repository &amp; Demo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82296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5C6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NEURAL LEDGER  |  IDBI BANK NATIONAL HACKATHON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IDBI AI Credit Intelligence Platform</dc:title>
  <dc:subject>PptxGenJS Presentation</dc:subject>
  <dc:creator>Team Neural Ledger</dc:creator>
  <cp:lastModifiedBy>TUSHAR SHARMA</cp:lastModifiedBy>
  <cp:revision>2</cp:revision>
  <dcterms:created xsi:type="dcterms:W3CDTF">2026-07-07T03:30:11Z</dcterms:created>
  <dcterms:modified xsi:type="dcterms:W3CDTF">2026-07-07T03:34:36Z</dcterms:modified>
</cp:coreProperties>
</file>